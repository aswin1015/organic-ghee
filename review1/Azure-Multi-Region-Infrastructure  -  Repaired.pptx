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70" r:id="rId5"/>
    <p:sldId id="260" r:id="rId6"/>
    <p:sldId id="261" r:id="rId7"/>
    <p:sldId id="262" r:id="rId8"/>
    <p:sldId id="263" r:id="rId9"/>
    <p:sldId id="264" r:id="rId10"/>
    <p:sldId id="265" r:id="rId11"/>
    <p:sldId id="266" r:id="rId12"/>
    <p:sldId id="268" r:id="rId13"/>
    <p:sldId id="269" r:id="rId14"/>
    <p:sldId id="27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024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for the Azure Multi-Region Secure Cloud Infrastructure architecture review. This presentation covers all aspects of the design including security, scalability, networking, and deployment flow across West US 2 and Central India regions.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designed around three pillars: Security (WAF, Bastion, NSG, Private Endpoints), Scalability (VMSS, ILBs, NAT Gateway), and Availability (multi-region, redundant paths). This is production-grade infrastructure suitable for enterprise SaaS applications.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from the internet enters via the Public IP (apg-pip), gets inspected by WAF, routed by Application Gateway, travels across VNet Peering to Central India, distributed by ILBs to App VMs, which then access Cosmos DB via a Private Endpoint. Administrators access VMs securely via Azure Bastion without any public IP on the VMs.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request lifecycle. Steps 1-7 represent the happy path for an end user. The admin flow is entirely separate and uses Bastion for secure management access. Return traffic follows the reverse path. All DNS resolution is handled by Azure Private DNS Zones for the Private Endpoint.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dual-VNet design enforces strict segmentation. vnet-1 hosts only the ingress and management tier. vnet-2 hosts the application and data tier. Non-overlapping CIDR ranges (192.168.x.x vs 10.10.x.x) are mandatory for VNet Peering. The AzureBastionSubnet must use that exact name — Azure enforces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Gateway is the single entry point for all user traffic. Combined with WAF, it provides enterprise-grade L7 security. In interviews, emphasize that the App Gateway sits in its own dedicated subnet (apg-subnet) per Azure requirements, and that WAF in Prevention mode actively blocks rather than just logs threats.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Bastion is a critical security component. In this architecture, app-1 and app-2 VMs have no public IPs — Bastion is the ONLY way to access them. This eliminates the most common attack vector (exposed SSH/RDP). The bastion-pip is shown in the diagram connected to the Bastion resource — this is Bastion's own management IP, not the VM's.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VNet Peering is the backbone of this multi-region architecture. Without it, App Gateway couldn't reach the application VMs in a different region. The peering is configured with 'Allow forwarded traffic' and 'Allow gateway transit' disabled since both VNets use peering directly.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Load Balancers are private by design — they only have a private frontend IP. App Gateway (in vnet-1) reaches the ILBs via VNet Peering. The two-ILB design allows independent scaling and updating of app1 and app2 workloads. In production, the ILBs are typically zone-redundant (spanning AZs 1, 2,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VMSS is the backbone of the compute tier. In this architecture, app-1 and app-2 represent two different application workloads (could be microservices). They share the same subnet but are isolated via separate ILBs and NSG rules. The auto-scaling ensures the infrastructure handles traffic spikes without manual intervention.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 Gateway is attached to the application subnet in vnet-2. It uses nat-pip as the static outbound IP. In production, organizations often attach 2-3 public IPs to a NAT Gateway to increase available SNAT ports (64K ports × number of IPs). The NAT Gateway is a fully managed, zone-redundant service.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Private Endpoint is one of the most important security features in this architecture. Without it, Cosmos DB would need to rely solely on RBAC and IP firewall rules. With it, the database is completely network-isolated. The Private DNS Zone must be linked to vnet-2 for VMs to resolve the private IP correctly.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implements defense-in-depth — even if one security control is bypassed, additional layers stop the attack. No single point of failure in the security model. In a penetration test, an attacker would need to: bypass WAF, compromise App Gateway, defeat NSG rules, and still cannot reach the database without being inside the VNet.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demonstrates production-grade Azure infrastructure combining multi-region deployment, defense-in-depth security, and elastic scalability. All design decisions are driven by real-world enterprise requirements. The architecture can be deployed end-to-end using Terraform in under 30 minutes.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3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78D4"/>
          </a:solidFill>
          <a:ln/>
        </p:spPr>
        <p:txBody>
          <a:bodyPr/>
          <a:lstStyle/>
          <a:p>
            <a:endParaRPr lang="en-IN"/>
          </a:p>
        </p:txBody>
      </p:sp>
      <p:sp>
        <p:nvSpPr>
          <p:cNvPr id="3" name="Shape 1"/>
          <p:cNvSpPr/>
          <p:nvPr/>
        </p:nvSpPr>
        <p:spPr>
          <a:xfrm>
            <a:off x="0" y="5033772"/>
            <a:ext cx="9144000" cy="109728"/>
          </a:xfrm>
          <a:prstGeom prst="rect">
            <a:avLst/>
          </a:prstGeom>
          <a:solidFill>
            <a:srgbClr val="0078D4"/>
          </a:solidFill>
          <a:ln/>
        </p:spPr>
        <p:txBody>
          <a:bodyPr/>
          <a:lstStyle/>
          <a:p>
            <a:endParaRPr lang="en-IN"/>
          </a:p>
        </p:txBody>
      </p:sp>
      <p:sp>
        <p:nvSpPr>
          <p:cNvPr id="4" name="Shape 2"/>
          <p:cNvSpPr/>
          <p:nvPr/>
        </p:nvSpPr>
        <p:spPr>
          <a:xfrm>
            <a:off x="0" y="109728"/>
            <a:ext cx="5303520" cy="4924044"/>
          </a:xfrm>
          <a:prstGeom prst="rect">
            <a:avLst/>
          </a:prstGeom>
          <a:solidFill>
            <a:srgbClr val="0A2540"/>
          </a:solidFill>
          <a:ln/>
        </p:spPr>
        <p:txBody>
          <a:bodyPr/>
          <a:lstStyle/>
          <a:p>
            <a:endParaRPr lang="en-IN"/>
          </a:p>
        </p:txBody>
      </p:sp>
      <p:sp>
        <p:nvSpPr>
          <p:cNvPr id="5" name="Shape 3"/>
          <p:cNvSpPr/>
          <p:nvPr/>
        </p:nvSpPr>
        <p:spPr>
          <a:xfrm>
            <a:off x="5303520" y="109728"/>
            <a:ext cx="3840480" cy="4924044"/>
          </a:xfrm>
          <a:prstGeom prst="rect">
            <a:avLst/>
          </a:prstGeom>
          <a:solidFill>
            <a:srgbClr val="003366"/>
          </a:solidFill>
          <a:ln/>
        </p:spPr>
        <p:txBody>
          <a:bodyPr/>
          <a:lstStyle/>
          <a:p>
            <a:endParaRPr lang="en-IN"/>
          </a:p>
        </p:txBody>
      </p:sp>
      <p:sp>
        <p:nvSpPr>
          <p:cNvPr id="6" name="Text 4"/>
          <p:cNvSpPr/>
          <p:nvPr/>
        </p:nvSpPr>
        <p:spPr>
          <a:xfrm>
            <a:off x="365760" y="822960"/>
            <a:ext cx="4754880" cy="822960"/>
          </a:xfrm>
          <a:prstGeom prst="rect">
            <a:avLst/>
          </a:prstGeom>
          <a:noFill/>
          <a:ln/>
        </p:spPr>
        <p:txBody>
          <a:bodyPr wrap="square" lIns="0" tIns="0" rIns="0" bIns="0" rtlCol="0" anchor="ctr"/>
          <a:lstStyle/>
          <a:p>
            <a:pPr marL="0" indent="0">
              <a:buNone/>
            </a:pPr>
            <a:r>
              <a:rPr lang="en-US" sz="3400" b="1" dirty="0">
                <a:solidFill>
                  <a:srgbClr val="FFFFFF"/>
                </a:solidFill>
              </a:rPr>
              <a:t>Azure Multi-Region</a:t>
            </a:r>
            <a:endParaRPr lang="en-US" sz="3400" dirty="0"/>
          </a:p>
        </p:txBody>
      </p:sp>
      <p:sp>
        <p:nvSpPr>
          <p:cNvPr id="7" name="Text 5"/>
          <p:cNvSpPr/>
          <p:nvPr/>
        </p:nvSpPr>
        <p:spPr>
          <a:xfrm>
            <a:off x="365760" y="1600200"/>
            <a:ext cx="4754880" cy="822960"/>
          </a:xfrm>
          <a:prstGeom prst="rect">
            <a:avLst/>
          </a:prstGeom>
          <a:noFill/>
          <a:ln/>
        </p:spPr>
        <p:txBody>
          <a:bodyPr wrap="square" lIns="0" tIns="0" rIns="0" bIns="0" rtlCol="0" anchor="ctr"/>
          <a:lstStyle/>
          <a:p>
            <a:r>
              <a:rPr lang="en-US" sz="3400" b="1" dirty="0">
                <a:solidFill>
                  <a:srgbClr val="00B4D8"/>
                </a:solidFill>
              </a:rPr>
              <a:t>Secure Cloud Infrastructure</a:t>
            </a:r>
            <a:endParaRPr lang="en-US" sz="3400" dirty="0"/>
          </a:p>
        </p:txBody>
      </p:sp>
      <p:sp>
        <p:nvSpPr>
          <p:cNvPr id="9" name="Shape 7"/>
          <p:cNvSpPr/>
          <p:nvPr/>
        </p:nvSpPr>
        <p:spPr>
          <a:xfrm>
            <a:off x="365760" y="2944368"/>
            <a:ext cx="3657600" cy="0"/>
          </a:xfrm>
          <a:prstGeom prst="line">
            <a:avLst/>
          </a:prstGeom>
          <a:noFill/>
          <a:ln w="19050">
            <a:solidFill>
              <a:srgbClr val="0078D4"/>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Project Overview</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Goals, Business Requirements &amp; Architecture Philosophy</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4320" y="777240"/>
            <a:ext cx="4160520" cy="178308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274320" y="777240"/>
            <a:ext cx="45720" cy="1783080"/>
          </a:xfrm>
          <a:prstGeom prst="rect">
            <a:avLst/>
          </a:prstGeom>
          <a:solidFill>
            <a:srgbClr val="0078D4"/>
          </a:solidFill>
          <a:ln/>
        </p:spPr>
        <p:txBody>
          <a:bodyPr/>
          <a:lstStyle/>
          <a:p>
            <a:endParaRPr lang="en-IN"/>
          </a:p>
        </p:txBody>
      </p:sp>
      <p:sp>
        <p:nvSpPr>
          <p:cNvPr id="8" name="Text 6"/>
          <p:cNvSpPr/>
          <p:nvPr/>
        </p:nvSpPr>
        <p:spPr>
          <a:xfrm>
            <a:off x="384048" y="850392"/>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Multi-Region Resilience</a:t>
            </a:r>
            <a:endParaRPr lang="en-US" sz="1100" dirty="0"/>
          </a:p>
        </p:txBody>
      </p:sp>
      <p:sp>
        <p:nvSpPr>
          <p:cNvPr id="9" name="Text 7"/>
          <p:cNvSpPr/>
          <p:nvPr/>
        </p:nvSpPr>
        <p:spPr>
          <a:xfrm>
            <a:off x="384048" y="1097280"/>
            <a:ext cx="3959352" cy="1371600"/>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Workloads span West US 2 (gateway) and Central India (app tier) to ensure geographic redundancy and serve users with low latency globally.</a:t>
            </a:r>
            <a:endParaRPr lang="en-US" sz="950" dirty="0"/>
          </a:p>
        </p:txBody>
      </p:sp>
      <p:sp>
        <p:nvSpPr>
          <p:cNvPr id="10" name="Shape 8"/>
          <p:cNvSpPr/>
          <p:nvPr/>
        </p:nvSpPr>
        <p:spPr>
          <a:xfrm>
            <a:off x="4709160" y="777240"/>
            <a:ext cx="4160520" cy="178308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11" name="Shape 9"/>
          <p:cNvSpPr/>
          <p:nvPr/>
        </p:nvSpPr>
        <p:spPr>
          <a:xfrm>
            <a:off x="4709160" y="777240"/>
            <a:ext cx="45720" cy="1783080"/>
          </a:xfrm>
          <a:prstGeom prst="rect">
            <a:avLst/>
          </a:prstGeom>
          <a:solidFill>
            <a:srgbClr val="0078D4"/>
          </a:solidFill>
          <a:ln/>
        </p:spPr>
        <p:txBody>
          <a:bodyPr/>
          <a:lstStyle/>
          <a:p>
            <a:endParaRPr lang="en-IN"/>
          </a:p>
        </p:txBody>
      </p:sp>
      <p:sp>
        <p:nvSpPr>
          <p:cNvPr id="12" name="Text 10"/>
          <p:cNvSpPr/>
          <p:nvPr/>
        </p:nvSpPr>
        <p:spPr>
          <a:xfrm>
            <a:off x="4818888" y="850392"/>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Zero-Trust Security</a:t>
            </a:r>
            <a:endParaRPr lang="en-US" sz="1100" dirty="0"/>
          </a:p>
        </p:txBody>
      </p:sp>
      <p:sp>
        <p:nvSpPr>
          <p:cNvPr id="13" name="Text 11"/>
          <p:cNvSpPr/>
          <p:nvPr/>
        </p:nvSpPr>
        <p:spPr>
          <a:xfrm>
            <a:off x="4818888" y="1097280"/>
            <a:ext cx="3959352" cy="1371600"/>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No VM has a public IP. All inbound traffic flows through WAF + App Gateway. Management access exclusively via Azure Bastion.</a:t>
            </a:r>
            <a:endParaRPr lang="en-US" sz="950" dirty="0"/>
          </a:p>
        </p:txBody>
      </p:sp>
      <p:sp>
        <p:nvSpPr>
          <p:cNvPr id="14" name="Shape 12"/>
          <p:cNvSpPr/>
          <p:nvPr/>
        </p:nvSpPr>
        <p:spPr>
          <a:xfrm>
            <a:off x="274320" y="2697480"/>
            <a:ext cx="4160520" cy="178308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15" name="Shape 13"/>
          <p:cNvSpPr/>
          <p:nvPr/>
        </p:nvSpPr>
        <p:spPr>
          <a:xfrm>
            <a:off x="274320" y="2697480"/>
            <a:ext cx="45720" cy="1783080"/>
          </a:xfrm>
          <a:prstGeom prst="rect">
            <a:avLst/>
          </a:prstGeom>
          <a:solidFill>
            <a:srgbClr val="0078D4"/>
          </a:solidFill>
          <a:ln/>
        </p:spPr>
        <p:txBody>
          <a:bodyPr/>
          <a:lstStyle/>
          <a:p>
            <a:endParaRPr lang="en-IN"/>
          </a:p>
        </p:txBody>
      </p:sp>
      <p:sp>
        <p:nvSpPr>
          <p:cNvPr id="16" name="Text 14"/>
          <p:cNvSpPr/>
          <p:nvPr/>
        </p:nvSpPr>
        <p:spPr>
          <a:xfrm>
            <a:off x="384048" y="2770632"/>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High Availability</a:t>
            </a:r>
            <a:endParaRPr lang="en-US" sz="1100" dirty="0"/>
          </a:p>
        </p:txBody>
      </p:sp>
      <p:sp>
        <p:nvSpPr>
          <p:cNvPr id="17" name="Text 15"/>
          <p:cNvSpPr/>
          <p:nvPr/>
        </p:nvSpPr>
        <p:spPr>
          <a:xfrm>
            <a:off x="384048" y="3017520"/>
            <a:ext cx="3959352" cy="1371600"/>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VM Scale Sets with ILBs ensure the application can absorb traffic spikes and survive individual VM failures without downtime.</a:t>
            </a:r>
            <a:endParaRPr lang="en-US" sz="950" dirty="0"/>
          </a:p>
        </p:txBody>
      </p:sp>
      <p:sp>
        <p:nvSpPr>
          <p:cNvPr id="18" name="Shape 16"/>
          <p:cNvSpPr/>
          <p:nvPr/>
        </p:nvSpPr>
        <p:spPr>
          <a:xfrm>
            <a:off x="4709160" y="2697480"/>
            <a:ext cx="4160520" cy="178308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19" name="Shape 17"/>
          <p:cNvSpPr/>
          <p:nvPr/>
        </p:nvSpPr>
        <p:spPr>
          <a:xfrm>
            <a:off x="4709160" y="2697480"/>
            <a:ext cx="45720" cy="1783080"/>
          </a:xfrm>
          <a:prstGeom prst="rect">
            <a:avLst/>
          </a:prstGeom>
          <a:solidFill>
            <a:srgbClr val="0078D4"/>
          </a:solidFill>
          <a:ln/>
        </p:spPr>
        <p:txBody>
          <a:bodyPr/>
          <a:lstStyle/>
          <a:p>
            <a:endParaRPr lang="en-IN"/>
          </a:p>
        </p:txBody>
      </p:sp>
      <p:sp>
        <p:nvSpPr>
          <p:cNvPr id="20" name="Text 18"/>
          <p:cNvSpPr/>
          <p:nvPr/>
        </p:nvSpPr>
        <p:spPr>
          <a:xfrm>
            <a:off x="4818888" y="2770632"/>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Private Data Access</a:t>
            </a:r>
            <a:endParaRPr lang="en-US" sz="1100" dirty="0"/>
          </a:p>
        </p:txBody>
      </p:sp>
      <p:sp>
        <p:nvSpPr>
          <p:cNvPr id="21" name="Text 19"/>
          <p:cNvSpPr/>
          <p:nvPr/>
        </p:nvSpPr>
        <p:spPr>
          <a:xfrm>
            <a:off x="4818888" y="3017520"/>
            <a:ext cx="3959352" cy="1371600"/>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Cosmos DB is accessed only through a Private Endpoint — the database is never exposed to the public internet under any condition.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3B2F948A-272C-777E-A4F9-65B115AB52BB}"/>
              </a:ext>
            </a:extLst>
          </p:cNvPr>
          <p:cNvPicPr>
            <a:picLocks noChangeAspect="1"/>
          </p:cNvPicPr>
          <p:nvPr/>
        </p:nvPicPr>
        <p:blipFill>
          <a:blip r:embed="rId3"/>
          <a:stretch>
            <a:fillRect/>
          </a:stretch>
        </p:blipFill>
        <p:spPr>
          <a:xfrm>
            <a:off x="1873188" y="0"/>
            <a:ext cx="5193437"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Traffic Flow Walkthrough</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Step-by-step request lifecycle: User to Database</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4320" y="804672"/>
            <a:ext cx="347472" cy="868680"/>
          </a:xfrm>
          <a:prstGeom prst="rect">
            <a:avLst/>
          </a:prstGeom>
          <a:solidFill>
            <a:srgbClr val="F6A623"/>
          </a:solidFill>
          <a:ln/>
        </p:spPr>
        <p:txBody>
          <a:bodyPr/>
          <a:lstStyle/>
          <a:p>
            <a:endParaRPr lang="en-IN"/>
          </a:p>
        </p:txBody>
      </p:sp>
      <p:sp>
        <p:nvSpPr>
          <p:cNvPr id="7" name="Text 5"/>
          <p:cNvSpPr/>
          <p:nvPr/>
        </p:nvSpPr>
        <p:spPr>
          <a:xfrm>
            <a:off x="274320" y="804672"/>
            <a:ext cx="347472" cy="8686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Shape 6"/>
          <p:cNvSpPr/>
          <p:nvPr/>
        </p:nvSpPr>
        <p:spPr>
          <a:xfrm>
            <a:off x="621792" y="804672"/>
            <a:ext cx="3995928" cy="868680"/>
          </a:xfrm>
          <a:prstGeom prst="rect">
            <a:avLst/>
          </a:prstGeom>
          <a:solidFill>
            <a:srgbClr val="0A2540"/>
          </a:solidFill>
          <a:ln/>
        </p:spPr>
        <p:txBody>
          <a:bodyPr/>
          <a:lstStyle/>
          <a:p>
            <a:endParaRPr lang="en-IN"/>
          </a:p>
        </p:txBody>
      </p:sp>
      <p:sp>
        <p:nvSpPr>
          <p:cNvPr id="9" name="Text 7"/>
          <p:cNvSpPr/>
          <p:nvPr/>
        </p:nvSpPr>
        <p:spPr>
          <a:xfrm>
            <a:off x="731520" y="877824"/>
            <a:ext cx="3794760" cy="228600"/>
          </a:xfrm>
          <a:prstGeom prst="rect">
            <a:avLst/>
          </a:prstGeom>
          <a:noFill/>
          <a:ln/>
        </p:spPr>
        <p:txBody>
          <a:bodyPr wrap="square" lIns="0" tIns="0" rIns="0" bIns="0" rtlCol="0" anchor="ctr"/>
          <a:lstStyle/>
          <a:p>
            <a:pPr marL="0" indent="0">
              <a:buNone/>
            </a:pPr>
            <a:r>
              <a:rPr lang="en-US" sz="1000" b="1" dirty="0">
                <a:solidFill>
                  <a:srgbClr val="F6A623"/>
                </a:solidFill>
              </a:rPr>
              <a:t>User → apg-pip</a:t>
            </a:r>
            <a:endParaRPr lang="en-US" sz="1000" dirty="0"/>
          </a:p>
        </p:txBody>
      </p:sp>
      <p:sp>
        <p:nvSpPr>
          <p:cNvPr id="10" name="Text 8"/>
          <p:cNvSpPr/>
          <p:nvPr/>
        </p:nvSpPr>
        <p:spPr>
          <a:xfrm>
            <a:off x="731520" y="1115568"/>
            <a:ext cx="3794760" cy="502920"/>
          </a:xfrm>
          <a:prstGeom prst="rect">
            <a:avLst/>
          </a:prstGeom>
          <a:noFill/>
          <a:ln/>
        </p:spPr>
        <p:txBody>
          <a:bodyPr wrap="square" lIns="0" tIns="0" rIns="0" bIns="0" rtlCol="0" anchor="ctr"/>
          <a:lstStyle/>
          <a:p>
            <a:pPr marL="0" indent="0">
              <a:buNone/>
            </a:pPr>
            <a:r>
              <a:rPr lang="en-US" sz="850" dirty="0">
                <a:solidFill>
                  <a:srgbClr val="F0F4F8"/>
                </a:solidFill>
              </a:rPr>
              <a:t>User browser sends HTTPS request to apg-pip (public IP). DNS resolves app domain to apg-pip.</a:t>
            </a:r>
            <a:endParaRPr lang="en-US" sz="850" dirty="0"/>
          </a:p>
        </p:txBody>
      </p:sp>
      <p:sp>
        <p:nvSpPr>
          <p:cNvPr id="11" name="Shape 9"/>
          <p:cNvSpPr/>
          <p:nvPr/>
        </p:nvSpPr>
        <p:spPr>
          <a:xfrm>
            <a:off x="274320" y="1837944"/>
            <a:ext cx="347472" cy="868680"/>
          </a:xfrm>
          <a:prstGeom prst="rect">
            <a:avLst/>
          </a:prstGeom>
          <a:solidFill>
            <a:srgbClr val="E53E3E"/>
          </a:solidFill>
          <a:ln/>
        </p:spPr>
        <p:txBody>
          <a:bodyPr/>
          <a:lstStyle/>
          <a:p>
            <a:endParaRPr lang="en-IN"/>
          </a:p>
        </p:txBody>
      </p:sp>
      <p:sp>
        <p:nvSpPr>
          <p:cNvPr id="12" name="Text 10"/>
          <p:cNvSpPr/>
          <p:nvPr/>
        </p:nvSpPr>
        <p:spPr>
          <a:xfrm>
            <a:off x="274320" y="1837944"/>
            <a:ext cx="347472" cy="8686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Shape 11"/>
          <p:cNvSpPr/>
          <p:nvPr/>
        </p:nvSpPr>
        <p:spPr>
          <a:xfrm>
            <a:off x="621792" y="1837944"/>
            <a:ext cx="3995928" cy="868680"/>
          </a:xfrm>
          <a:prstGeom prst="rect">
            <a:avLst/>
          </a:prstGeom>
          <a:solidFill>
            <a:srgbClr val="0A2540"/>
          </a:solidFill>
          <a:ln/>
        </p:spPr>
        <p:txBody>
          <a:bodyPr/>
          <a:lstStyle/>
          <a:p>
            <a:endParaRPr lang="en-IN"/>
          </a:p>
        </p:txBody>
      </p:sp>
      <p:sp>
        <p:nvSpPr>
          <p:cNvPr id="14" name="Text 12"/>
          <p:cNvSpPr/>
          <p:nvPr/>
        </p:nvSpPr>
        <p:spPr>
          <a:xfrm>
            <a:off x="731520" y="1911096"/>
            <a:ext cx="3794760" cy="228600"/>
          </a:xfrm>
          <a:prstGeom prst="rect">
            <a:avLst/>
          </a:prstGeom>
          <a:noFill/>
          <a:ln/>
        </p:spPr>
        <p:txBody>
          <a:bodyPr wrap="square" lIns="0" tIns="0" rIns="0" bIns="0" rtlCol="0" anchor="ctr"/>
          <a:lstStyle/>
          <a:p>
            <a:pPr marL="0" indent="0">
              <a:buNone/>
            </a:pPr>
            <a:r>
              <a:rPr lang="en-US" sz="1000" b="1" dirty="0">
                <a:solidFill>
                  <a:srgbClr val="E53E3E"/>
                </a:solidFill>
              </a:rPr>
              <a:t>WAF Inspection</a:t>
            </a:r>
            <a:endParaRPr lang="en-US" sz="1000" dirty="0"/>
          </a:p>
        </p:txBody>
      </p:sp>
      <p:sp>
        <p:nvSpPr>
          <p:cNvPr id="15" name="Text 13"/>
          <p:cNvSpPr/>
          <p:nvPr/>
        </p:nvSpPr>
        <p:spPr>
          <a:xfrm>
            <a:off x="731520" y="2148840"/>
            <a:ext cx="3794760" cy="502920"/>
          </a:xfrm>
          <a:prstGeom prst="rect">
            <a:avLst/>
          </a:prstGeom>
          <a:noFill/>
          <a:ln/>
        </p:spPr>
        <p:txBody>
          <a:bodyPr wrap="square" lIns="0" tIns="0" rIns="0" bIns="0" rtlCol="0" anchor="ctr"/>
          <a:lstStyle/>
          <a:p>
            <a:pPr marL="0" indent="0">
              <a:buNone/>
            </a:pPr>
            <a:r>
              <a:rPr lang="en-US" sz="850" dirty="0">
                <a:solidFill>
                  <a:srgbClr val="F0F4F8"/>
                </a:solidFill>
              </a:rPr>
              <a:t>WAF in Prevention mode inspects all HTTP headers, body, query params. Blocks malicious payloads (SQLi, XSS). Allowed traffic continues.</a:t>
            </a:r>
            <a:endParaRPr lang="en-US" sz="850" dirty="0"/>
          </a:p>
        </p:txBody>
      </p:sp>
      <p:sp>
        <p:nvSpPr>
          <p:cNvPr id="16" name="Shape 14"/>
          <p:cNvSpPr/>
          <p:nvPr/>
        </p:nvSpPr>
        <p:spPr>
          <a:xfrm>
            <a:off x="274320" y="2871216"/>
            <a:ext cx="347472" cy="868680"/>
          </a:xfrm>
          <a:prstGeom prst="rect">
            <a:avLst/>
          </a:prstGeom>
          <a:solidFill>
            <a:srgbClr val="0078D4"/>
          </a:solidFill>
          <a:ln/>
        </p:spPr>
        <p:txBody>
          <a:bodyPr/>
          <a:lstStyle/>
          <a:p>
            <a:endParaRPr lang="en-IN"/>
          </a:p>
        </p:txBody>
      </p:sp>
      <p:sp>
        <p:nvSpPr>
          <p:cNvPr id="17" name="Text 15"/>
          <p:cNvSpPr/>
          <p:nvPr/>
        </p:nvSpPr>
        <p:spPr>
          <a:xfrm>
            <a:off x="274320" y="2871216"/>
            <a:ext cx="347472" cy="8686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8" name="Shape 16"/>
          <p:cNvSpPr/>
          <p:nvPr/>
        </p:nvSpPr>
        <p:spPr>
          <a:xfrm>
            <a:off x="621792" y="2871216"/>
            <a:ext cx="3995928" cy="868680"/>
          </a:xfrm>
          <a:prstGeom prst="rect">
            <a:avLst/>
          </a:prstGeom>
          <a:solidFill>
            <a:srgbClr val="0A2540"/>
          </a:solidFill>
          <a:ln/>
        </p:spPr>
        <p:txBody>
          <a:bodyPr/>
          <a:lstStyle/>
          <a:p>
            <a:endParaRPr lang="en-IN"/>
          </a:p>
        </p:txBody>
      </p:sp>
      <p:sp>
        <p:nvSpPr>
          <p:cNvPr id="19" name="Text 17"/>
          <p:cNvSpPr/>
          <p:nvPr/>
        </p:nvSpPr>
        <p:spPr>
          <a:xfrm>
            <a:off x="731520" y="2944368"/>
            <a:ext cx="3794760" cy="228600"/>
          </a:xfrm>
          <a:prstGeom prst="rect">
            <a:avLst/>
          </a:prstGeom>
          <a:noFill/>
          <a:ln/>
        </p:spPr>
        <p:txBody>
          <a:bodyPr wrap="square" lIns="0" tIns="0" rIns="0" bIns="0" rtlCol="0" anchor="ctr"/>
          <a:lstStyle/>
          <a:p>
            <a:pPr marL="0" indent="0">
              <a:buNone/>
            </a:pPr>
            <a:r>
              <a:rPr lang="en-US" sz="1000" b="1" dirty="0">
                <a:solidFill>
                  <a:srgbClr val="0078D4"/>
                </a:solidFill>
              </a:rPr>
              <a:t>App Gateway Routing</a:t>
            </a:r>
            <a:endParaRPr lang="en-US" sz="1000" dirty="0"/>
          </a:p>
        </p:txBody>
      </p:sp>
      <p:sp>
        <p:nvSpPr>
          <p:cNvPr id="20" name="Text 18"/>
          <p:cNvSpPr/>
          <p:nvPr/>
        </p:nvSpPr>
        <p:spPr>
          <a:xfrm>
            <a:off x="731520" y="3182112"/>
            <a:ext cx="3794760" cy="502920"/>
          </a:xfrm>
          <a:prstGeom prst="rect">
            <a:avLst/>
          </a:prstGeom>
          <a:noFill/>
          <a:ln/>
        </p:spPr>
        <p:txBody>
          <a:bodyPr wrap="square" lIns="0" tIns="0" rIns="0" bIns="0" rtlCol="0" anchor="ctr"/>
          <a:lstStyle/>
          <a:p>
            <a:pPr marL="0" indent="0">
              <a:buNone/>
            </a:pPr>
            <a:r>
              <a:rPr lang="en-US" sz="850" dirty="0">
                <a:solidFill>
                  <a:srgbClr val="F0F4F8"/>
                </a:solidFill>
              </a:rPr>
              <a:t>inspects URL path. /api/* → app1-ilb backend. /app/* → app2-ilb backend.</a:t>
            </a:r>
            <a:endParaRPr lang="en-US" sz="850" dirty="0"/>
          </a:p>
        </p:txBody>
      </p:sp>
      <p:sp>
        <p:nvSpPr>
          <p:cNvPr id="21" name="Shape 19"/>
          <p:cNvSpPr/>
          <p:nvPr/>
        </p:nvSpPr>
        <p:spPr>
          <a:xfrm>
            <a:off x="274320" y="3904488"/>
            <a:ext cx="347472" cy="868680"/>
          </a:xfrm>
          <a:prstGeom prst="rect">
            <a:avLst/>
          </a:prstGeom>
          <a:solidFill>
            <a:srgbClr val="00B4D8"/>
          </a:solidFill>
          <a:ln/>
        </p:spPr>
        <p:txBody>
          <a:bodyPr/>
          <a:lstStyle/>
          <a:p>
            <a:endParaRPr lang="en-IN"/>
          </a:p>
        </p:txBody>
      </p:sp>
      <p:sp>
        <p:nvSpPr>
          <p:cNvPr id="22" name="Text 20"/>
          <p:cNvSpPr/>
          <p:nvPr/>
        </p:nvSpPr>
        <p:spPr>
          <a:xfrm>
            <a:off x="274320" y="3904488"/>
            <a:ext cx="347472" cy="8686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3" name="Shape 21"/>
          <p:cNvSpPr/>
          <p:nvPr/>
        </p:nvSpPr>
        <p:spPr>
          <a:xfrm>
            <a:off x="621792" y="3904488"/>
            <a:ext cx="3995928" cy="868680"/>
          </a:xfrm>
          <a:prstGeom prst="rect">
            <a:avLst/>
          </a:prstGeom>
          <a:solidFill>
            <a:srgbClr val="0A2540"/>
          </a:solidFill>
          <a:ln/>
        </p:spPr>
        <p:txBody>
          <a:bodyPr/>
          <a:lstStyle/>
          <a:p>
            <a:endParaRPr lang="en-IN"/>
          </a:p>
        </p:txBody>
      </p:sp>
      <p:sp>
        <p:nvSpPr>
          <p:cNvPr id="24" name="Text 22"/>
          <p:cNvSpPr/>
          <p:nvPr/>
        </p:nvSpPr>
        <p:spPr>
          <a:xfrm>
            <a:off x="731520" y="3977640"/>
            <a:ext cx="3794760" cy="228600"/>
          </a:xfrm>
          <a:prstGeom prst="rect">
            <a:avLst/>
          </a:prstGeom>
          <a:noFill/>
          <a:ln/>
        </p:spPr>
        <p:txBody>
          <a:bodyPr wrap="square" lIns="0" tIns="0" rIns="0" bIns="0" rtlCol="0" anchor="ctr"/>
          <a:lstStyle/>
          <a:p>
            <a:pPr marL="0" indent="0">
              <a:buNone/>
            </a:pPr>
            <a:r>
              <a:rPr lang="en-US" sz="1000" b="1" dirty="0">
                <a:solidFill>
                  <a:srgbClr val="00B4D8"/>
                </a:solidFill>
              </a:rPr>
              <a:t>VNet Peering Transit</a:t>
            </a:r>
            <a:endParaRPr lang="en-US" sz="1000" dirty="0"/>
          </a:p>
        </p:txBody>
      </p:sp>
      <p:sp>
        <p:nvSpPr>
          <p:cNvPr id="25" name="Text 23"/>
          <p:cNvSpPr/>
          <p:nvPr/>
        </p:nvSpPr>
        <p:spPr>
          <a:xfrm>
            <a:off x="731520" y="4215384"/>
            <a:ext cx="3794760" cy="502920"/>
          </a:xfrm>
          <a:prstGeom prst="rect">
            <a:avLst/>
          </a:prstGeom>
          <a:noFill/>
          <a:ln/>
        </p:spPr>
        <p:txBody>
          <a:bodyPr wrap="square" lIns="0" tIns="0" rIns="0" bIns="0" rtlCol="0" anchor="ctr"/>
          <a:lstStyle/>
          <a:p>
            <a:pPr marL="0" indent="0">
              <a:buNone/>
            </a:pPr>
            <a:r>
              <a:rPr lang="en-US" sz="850" dirty="0">
                <a:solidFill>
                  <a:srgbClr val="F0F4F8"/>
                </a:solidFill>
              </a:rPr>
              <a:t>Traffic crosses from vnet-1 (West US 2) to vnet-2 (Central India) via Global VNet Peering on Microsoft backbone.</a:t>
            </a:r>
            <a:endParaRPr lang="en-US" sz="850" dirty="0"/>
          </a:p>
        </p:txBody>
      </p:sp>
      <p:sp>
        <p:nvSpPr>
          <p:cNvPr id="26" name="Shape 24"/>
          <p:cNvSpPr/>
          <p:nvPr/>
        </p:nvSpPr>
        <p:spPr>
          <a:xfrm>
            <a:off x="4709160" y="804672"/>
            <a:ext cx="347472" cy="868680"/>
          </a:xfrm>
          <a:prstGeom prst="rect">
            <a:avLst/>
          </a:prstGeom>
          <a:solidFill>
            <a:srgbClr val="38A169"/>
          </a:solidFill>
          <a:ln/>
        </p:spPr>
        <p:txBody>
          <a:bodyPr/>
          <a:lstStyle/>
          <a:p>
            <a:endParaRPr lang="en-IN"/>
          </a:p>
        </p:txBody>
      </p:sp>
      <p:sp>
        <p:nvSpPr>
          <p:cNvPr id="27" name="Text 25"/>
          <p:cNvSpPr/>
          <p:nvPr/>
        </p:nvSpPr>
        <p:spPr>
          <a:xfrm>
            <a:off x="4709160" y="804672"/>
            <a:ext cx="347472" cy="86868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8" name="Shape 26"/>
          <p:cNvSpPr/>
          <p:nvPr/>
        </p:nvSpPr>
        <p:spPr>
          <a:xfrm>
            <a:off x="5056632" y="804672"/>
            <a:ext cx="3995928" cy="868680"/>
          </a:xfrm>
          <a:prstGeom prst="rect">
            <a:avLst/>
          </a:prstGeom>
          <a:solidFill>
            <a:srgbClr val="0A2540"/>
          </a:solidFill>
          <a:ln/>
        </p:spPr>
        <p:txBody>
          <a:bodyPr/>
          <a:lstStyle/>
          <a:p>
            <a:endParaRPr lang="en-IN"/>
          </a:p>
        </p:txBody>
      </p:sp>
      <p:sp>
        <p:nvSpPr>
          <p:cNvPr id="29" name="Text 27"/>
          <p:cNvSpPr/>
          <p:nvPr/>
        </p:nvSpPr>
        <p:spPr>
          <a:xfrm>
            <a:off x="5166360" y="877824"/>
            <a:ext cx="3794760" cy="228600"/>
          </a:xfrm>
          <a:prstGeom prst="rect">
            <a:avLst/>
          </a:prstGeom>
          <a:noFill/>
          <a:ln/>
        </p:spPr>
        <p:txBody>
          <a:bodyPr wrap="square" lIns="0" tIns="0" rIns="0" bIns="0" rtlCol="0" anchor="ctr"/>
          <a:lstStyle/>
          <a:p>
            <a:pPr marL="0" indent="0">
              <a:buNone/>
            </a:pPr>
            <a:r>
              <a:rPr lang="en-US" sz="1000" b="1" dirty="0">
                <a:solidFill>
                  <a:srgbClr val="38A169"/>
                </a:solidFill>
              </a:rPr>
              <a:t>Internal Load Balancer</a:t>
            </a:r>
            <a:endParaRPr lang="en-US" sz="1000" dirty="0"/>
          </a:p>
        </p:txBody>
      </p:sp>
      <p:sp>
        <p:nvSpPr>
          <p:cNvPr id="30" name="Text 28"/>
          <p:cNvSpPr/>
          <p:nvPr/>
        </p:nvSpPr>
        <p:spPr>
          <a:xfrm>
            <a:off x="5166360" y="1115568"/>
            <a:ext cx="3794760" cy="502920"/>
          </a:xfrm>
          <a:prstGeom prst="rect">
            <a:avLst/>
          </a:prstGeom>
          <a:noFill/>
          <a:ln/>
        </p:spPr>
        <p:txBody>
          <a:bodyPr wrap="square" lIns="0" tIns="0" rIns="0" bIns="0" rtlCol="0" anchor="ctr"/>
          <a:lstStyle/>
          <a:p>
            <a:pPr marL="0" indent="0">
              <a:buNone/>
            </a:pPr>
            <a:r>
              <a:rPr lang="en-US" sz="850" dirty="0">
                <a:solidFill>
                  <a:srgbClr val="F0F4F8"/>
                </a:solidFill>
              </a:rPr>
              <a:t>app1-ilb or app2-ilb receives the request. Health-checked backend pool determines which VM instance handles it.</a:t>
            </a:r>
            <a:endParaRPr lang="en-US" sz="850" dirty="0"/>
          </a:p>
        </p:txBody>
      </p:sp>
      <p:sp>
        <p:nvSpPr>
          <p:cNvPr id="31" name="Shape 29"/>
          <p:cNvSpPr/>
          <p:nvPr/>
        </p:nvSpPr>
        <p:spPr>
          <a:xfrm>
            <a:off x="4709160" y="1837944"/>
            <a:ext cx="347472" cy="868680"/>
          </a:xfrm>
          <a:prstGeom prst="rect">
            <a:avLst/>
          </a:prstGeom>
          <a:solidFill>
            <a:srgbClr val="805AD5"/>
          </a:solidFill>
          <a:ln/>
        </p:spPr>
        <p:txBody>
          <a:bodyPr/>
          <a:lstStyle/>
          <a:p>
            <a:endParaRPr lang="en-IN"/>
          </a:p>
        </p:txBody>
      </p:sp>
      <p:sp>
        <p:nvSpPr>
          <p:cNvPr id="32" name="Text 30"/>
          <p:cNvSpPr/>
          <p:nvPr/>
        </p:nvSpPr>
        <p:spPr>
          <a:xfrm>
            <a:off x="4709160" y="1837944"/>
            <a:ext cx="347472" cy="868680"/>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33" name="Shape 31"/>
          <p:cNvSpPr/>
          <p:nvPr/>
        </p:nvSpPr>
        <p:spPr>
          <a:xfrm>
            <a:off x="5056632" y="1837944"/>
            <a:ext cx="3995928" cy="868680"/>
          </a:xfrm>
          <a:prstGeom prst="rect">
            <a:avLst/>
          </a:prstGeom>
          <a:solidFill>
            <a:srgbClr val="0A2540"/>
          </a:solidFill>
          <a:ln/>
        </p:spPr>
        <p:txBody>
          <a:bodyPr/>
          <a:lstStyle/>
          <a:p>
            <a:endParaRPr lang="en-IN"/>
          </a:p>
        </p:txBody>
      </p:sp>
      <p:sp>
        <p:nvSpPr>
          <p:cNvPr id="34" name="Text 32"/>
          <p:cNvSpPr/>
          <p:nvPr/>
        </p:nvSpPr>
        <p:spPr>
          <a:xfrm>
            <a:off x="5166360" y="1911096"/>
            <a:ext cx="3794760" cy="228600"/>
          </a:xfrm>
          <a:prstGeom prst="rect">
            <a:avLst/>
          </a:prstGeom>
          <a:noFill/>
          <a:ln/>
        </p:spPr>
        <p:txBody>
          <a:bodyPr wrap="square" lIns="0" tIns="0" rIns="0" bIns="0" rtlCol="0" anchor="ctr"/>
          <a:lstStyle/>
          <a:p>
            <a:pPr marL="0" indent="0">
              <a:buNone/>
            </a:pPr>
            <a:r>
              <a:rPr lang="en-US" sz="1000" b="1" dirty="0">
                <a:solidFill>
                  <a:srgbClr val="805AD5"/>
                </a:solidFill>
              </a:rPr>
              <a:t>Application VM (VMSS)</a:t>
            </a:r>
            <a:endParaRPr lang="en-US" sz="1000" dirty="0"/>
          </a:p>
        </p:txBody>
      </p:sp>
      <p:sp>
        <p:nvSpPr>
          <p:cNvPr id="35" name="Text 33"/>
          <p:cNvSpPr/>
          <p:nvPr/>
        </p:nvSpPr>
        <p:spPr>
          <a:xfrm>
            <a:off x="5166360" y="2148840"/>
            <a:ext cx="3794760" cy="502920"/>
          </a:xfrm>
          <a:prstGeom prst="rect">
            <a:avLst/>
          </a:prstGeom>
          <a:noFill/>
          <a:ln/>
        </p:spPr>
        <p:txBody>
          <a:bodyPr wrap="square" lIns="0" tIns="0" rIns="0" bIns="0" rtlCol="0" anchor="ctr"/>
          <a:lstStyle/>
          <a:p>
            <a:pPr marL="0" indent="0">
              <a:buNone/>
            </a:pPr>
            <a:r>
              <a:rPr lang="en-US" sz="850" dirty="0">
                <a:solidFill>
                  <a:srgbClr val="F0F4F8"/>
                </a:solidFill>
              </a:rPr>
              <a:t>Selected VM processes the request. NSG has already filtered traffic at the subnet boundary.</a:t>
            </a:r>
            <a:endParaRPr lang="en-US" sz="850" dirty="0"/>
          </a:p>
        </p:txBody>
      </p:sp>
      <p:sp>
        <p:nvSpPr>
          <p:cNvPr id="36" name="Shape 34"/>
          <p:cNvSpPr/>
          <p:nvPr/>
        </p:nvSpPr>
        <p:spPr>
          <a:xfrm>
            <a:off x="4709160" y="2871216"/>
            <a:ext cx="347472" cy="868680"/>
          </a:xfrm>
          <a:prstGeom prst="rect">
            <a:avLst/>
          </a:prstGeom>
          <a:solidFill>
            <a:srgbClr val="0DC5D4"/>
          </a:solidFill>
          <a:ln/>
        </p:spPr>
        <p:txBody>
          <a:bodyPr/>
          <a:lstStyle/>
          <a:p>
            <a:endParaRPr lang="en-IN"/>
          </a:p>
        </p:txBody>
      </p:sp>
      <p:sp>
        <p:nvSpPr>
          <p:cNvPr id="37" name="Text 35"/>
          <p:cNvSpPr/>
          <p:nvPr/>
        </p:nvSpPr>
        <p:spPr>
          <a:xfrm>
            <a:off x="4709160" y="2871216"/>
            <a:ext cx="347472" cy="868680"/>
          </a:xfrm>
          <a:prstGeom prst="rect">
            <a:avLst/>
          </a:prstGeom>
          <a:noFill/>
          <a:ln/>
        </p:spPr>
        <p:txBody>
          <a:bodyPr wrap="square" lIns="0" tIns="0" rIns="0" bIns="0" rtlCol="0" anchor="ctr"/>
          <a:lstStyle/>
          <a:p>
            <a:pPr marL="0" indent="0" algn="ctr">
              <a:buNone/>
            </a:pPr>
            <a:r>
              <a:rPr lang="en-US" sz="1600" b="1" dirty="0">
                <a:solidFill>
                  <a:srgbClr val="FFFFFF"/>
                </a:solidFill>
              </a:rPr>
              <a:t>7</a:t>
            </a:r>
            <a:endParaRPr lang="en-US" sz="1600" dirty="0"/>
          </a:p>
        </p:txBody>
      </p:sp>
      <p:sp>
        <p:nvSpPr>
          <p:cNvPr id="38" name="Shape 36"/>
          <p:cNvSpPr/>
          <p:nvPr/>
        </p:nvSpPr>
        <p:spPr>
          <a:xfrm>
            <a:off x="5056632" y="2871216"/>
            <a:ext cx="3995928" cy="868680"/>
          </a:xfrm>
          <a:prstGeom prst="rect">
            <a:avLst/>
          </a:prstGeom>
          <a:solidFill>
            <a:srgbClr val="0A2540"/>
          </a:solidFill>
          <a:ln/>
        </p:spPr>
        <p:txBody>
          <a:bodyPr/>
          <a:lstStyle/>
          <a:p>
            <a:endParaRPr lang="en-IN"/>
          </a:p>
        </p:txBody>
      </p:sp>
      <p:sp>
        <p:nvSpPr>
          <p:cNvPr id="39" name="Text 37"/>
          <p:cNvSpPr/>
          <p:nvPr/>
        </p:nvSpPr>
        <p:spPr>
          <a:xfrm>
            <a:off x="5166360" y="2944368"/>
            <a:ext cx="3794760" cy="228600"/>
          </a:xfrm>
          <a:prstGeom prst="rect">
            <a:avLst/>
          </a:prstGeom>
          <a:noFill/>
          <a:ln/>
        </p:spPr>
        <p:txBody>
          <a:bodyPr wrap="square" lIns="0" tIns="0" rIns="0" bIns="0" rtlCol="0" anchor="ctr"/>
          <a:lstStyle/>
          <a:p>
            <a:pPr marL="0" indent="0">
              <a:buNone/>
            </a:pPr>
            <a:r>
              <a:rPr lang="en-US" sz="1000" b="1" dirty="0">
                <a:solidFill>
                  <a:srgbClr val="0DC5D4"/>
                </a:solidFill>
              </a:rPr>
              <a:t>Cosmos DB via Private Endpoint</a:t>
            </a:r>
            <a:endParaRPr lang="en-US" sz="1000" dirty="0"/>
          </a:p>
        </p:txBody>
      </p:sp>
      <p:sp>
        <p:nvSpPr>
          <p:cNvPr id="40" name="Text 38"/>
          <p:cNvSpPr/>
          <p:nvPr/>
        </p:nvSpPr>
        <p:spPr>
          <a:xfrm>
            <a:off x="5166360" y="3182112"/>
            <a:ext cx="3794760" cy="502920"/>
          </a:xfrm>
          <a:prstGeom prst="rect">
            <a:avLst/>
          </a:prstGeom>
          <a:noFill/>
          <a:ln/>
        </p:spPr>
        <p:txBody>
          <a:bodyPr wrap="square" lIns="0" tIns="0" rIns="0" bIns="0" rtlCol="0" anchor="ctr"/>
          <a:lstStyle/>
          <a:p>
            <a:pPr marL="0" indent="0">
              <a:buNone/>
            </a:pPr>
            <a:r>
              <a:rPr lang="en-US" sz="850" dirty="0">
                <a:solidFill>
                  <a:srgbClr val="F0F4F8"/>
                </a:solidFill>
              </a:rPr>
              <a:t>VM resolves Cosmos DB → private IP via Private DNS. Database query travels privately within Azure network.</a:t>
            </a:r>
            <a:endParaRPr lang="en-US" sz="850" dirty="0"/>
          </a:p>
        </p:txBody>
      </p:sp>
      <p:sp>
        <p:nvSpPr>
          <p:cNvPr id="41" name="Shape 39"/>
          <p:cNvSpPr/>
          <p:nvPr/>
        </p:nvSpPr>
        <p:spPr>
          <a:xfrm>
            <a:off x="274320" y="4663440"/>
            <a:ext cx="8595360" cy="347472"/>
          </a:xfrm>
          <a:prstGeom prst="rect">
            <a:avLst/>
          </a:prstGeom>
          <a:solidFill>
            <a:srgbClr val="1A1A3A"/>
          </a:solidFill>
          <a:ln/>
        </p:spPr>
        <p:txBody>
          <a:bodyPr/>
          <a:lstStyle/>
          <a:p>
            <a:endParaRPr lang="en-IN"/>
          </a:p>
        </p:txBody>
      </p:sp>
      <p:sp>
        <p:nvSpPr>
          <p:cNvPr id="42" name="Text 40"/>
          <p:cNvSpPr/>
          <p:nvPr/>
        </p:nvSpPr>
        <p:spPr>
          <a:xfrm>
            <a:off x="411480" y="4663440"/>
            <a:ext cx="8321040" cy="347472"/>
          </a:xfrm>
          <a:prstGeom prst="rect">
            <a:avLst/>
          </a:prstGeom>
          <a:noFill/>
          <a:ln/>
        </p:spPr>
        <p:txBody>
          <a:bodyPr wrap="square" lIns="0" tIns="0" rIns="0" bIns="0" rtlCol="0" anchor="ctr"/>
          <a:lstStyle/>
          <a:p>
            <a:pPr marL="0" indent="0">
              <a:buNone/>
            </a:pPr>
            <a:r>
              <a:rPr lang="en-US" sz="850" dirty="0">
                <a:solidFill>
                  <a:srgbClr val="F6A623"/>
                </a:solidFill>
              </a:rPr>
              <a:t>🔐  Admin Access: Azure Portal → Bastion (bastion-pip, TLS 443) → VNet Peering → app-1 or app-2 VM (SSH on port 22, no public IP required)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Virtual Network Architecture</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Dual-VNet design with subnet isolation strategy</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28600" y="777240"/>
            <a:ext cx="4160520" cy="406908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228600" y="777240"/>
            <a:ext cx="4160520" cy="45720"/>
          </a:xfrm>
          <a:prstGeom prst="rect">
            <a:avLst/>
          </a:prstGeom>
          <a:solidFill>
            <a:srgbClr val="0078D4"/>
          </a:solidFill>
          <a:ln/>
        </p:spPr>
        <p:txBody>
          <a:bodyPr/>
          <a:lstStyle/>
          <a:p>
            <a:endParaRPr lang="en-IN"/>
          </a:p>
        </p:txBody>
      </p:sp>
      <p:sp>
        <p:nvSpPr>
          <p:cNvPr id="8" name="Text 6"/>
          <p:cNvSpPr/>
          <p:nvPr/>
        </p:nvSpPr>
        <p:spPr>
          <a:xfrm>
            <a:off x="320040" y="822960"/>
            <a:ext cx="3977640" cy="320040"/>
          </a:xfrm>
          <a:prstGeom prst="rect">
            <a:avLst/>
          </a:prstGeom>
          <a:noFill/>
          <a:ln/>
        </p:spPr>
        <p:txBody>
          <a:bodyPr wrap="square" lIns="0" tIns="0" rIns="0" bIns="0" rtlCol="0" anchor="ctr"/>
          <a:lstStyle/>
          <a:p>
            <a:pPr marL="0" indent="0">
              <a:buNone/>
            </a:pPr>
            <a:r>
              <a:rPr lang="en-US" sz="1000" b="1" dirty="0">
                <a:solidFill>
                  <a:srgbClr val="00B4D8"/>
                </a:solidFill>
              </a:rPr>
              <a:t>vnet-1 · West US 2 · 192.168.0.0/16</a:t>
            </a:r>
            <a:endParaRPr lang="en-US" sz="1000" dirty="0"/>
          </a:p>
        </p:txBody>
      </p:sp>
      <p:sp>
        <p:nvSpPr>
          <p:cNvPr id="9" name="Shape 7"/>
          <p:cNvSpPr/>
          <p:nvPr/>
        </p:nvSpPr>
        <p:spPr>
          <a:xfrm>
            <a:off x="365760" y="1280160"/>
            <a:ext cx="3840480" cy="1325880"/>
          </a:xfrm>
          <a:prstGeom prst="rect">
            <a:avLst/>
          </a:prstGeom>
          <a:solidFill>
            <a:srgbClr val="0A3A5A"/>
          </a:solidFill>
          <a:ln/>
          <a:effectLst>
            <a:outerShdw blurRad="50800" dist="25400" dir="8100000" algn="bl" rotWithShape="0">
              <a:srgbClr val="000000">
                <a:alpha val="20000"/>
              </a:srgbClr>
            </a:outerShdw>
          </a:effectLst>
        </p:spPr>
        <p:txBody>
          <a:bodyPr/>
          <a:lstStyle/>
          <a:p>
            <a:endParaRPr lang="en-IN" dirty="0"/>
          </a:p>
        </p:txBody>
      </p:sp>
      <p:sp>
        <p:nvSpPr>
          <p:cNvPr id="10" name="Text 8"/>
          <p:cNvSpPr/>
          <p:nvPr/>
        </p:nvSpPr>
        <p:spPr>
          <a:xfrm>
            <a:off x="457200" y="1344168"/>
            <a:ext cx="3657600" cy="256032"/>
          </a:xfrm>
          <a:prstGeom prst="rect">
            <a:avLst/>
          </a:prstGeom>
          <a:noFill/>
          <a:ln/>
        </p:spPr>
        <p:txBody>
          <a:bodyPr wrap="square" lIns="0" tIns="0" rIns="0" bIns="0" rtlCol="0" anchor="ctr"/>
          <a:lstStyle/>
          <a:p>
            <a:pPr marL="0" indent="0">
              <a:buNone/>
            </a:pPr>
            <a:r>
              <a:rPr lang="en-US" sz="1000" b="1" dirty="0">
                <a:solidFill>
                  <a:srgbClr val="0DC5D4"/>
                </a:solidFill>
              </a:rPr>
              <a:t>apg-subnet</a:t>
            </a:r>
            <a:endParaRPr lang="en-US" sz="1000" dirty="0"/>
          </a:p>
        </p:txBody>
      </p:sp>
      <p:sp>
        <p:nvSpPr>
          <p:cNvPr id="11" name="Text 9"/>
          <p:cNvSpPr/>
          <p:nvPr/>
        </p:nvSpPr>
        <p:spPr>
          <a:xfrm>
            <a:off x="457200" y="1600200"/>
            <a:ext cx="3657600" cy="201168"/>
          </a:xfrm>
          <a:prstGeom prst="rect">
            <a:avLst/>
          </a:prstGeom>
          <a:noFill/>
          <a:ln/>
        </p:spPr>
        <p:txBody>
          <a:bodyPr wrap="square" lIns="0" tIns="0" rIns="0" bIns="0" rtlCol="0" anchor="ctr"/>
          <a:lstStyle/>
          <a:p>
            <a:pPr marL="0" indent="0">
              <a:buNone/>
            </a:pPr>
            <a:r>
              <a:rPr lang="en-US" sz="900" dirty="0">
                <a:solidFill>
                  <a:srgbClr val="CBD5E0"/>
                </a:solidFill>
              </a:rPr>
              <a:t>192.168.10.0/24</a:t>
            </a:r>
            <a:endParaRPr lang="en-US" sz="900" dirty="0"/>
          </a:p>
        </p:txBody>
      </p:sp>
      <p:sp>
        <p:nvSpPr>
          <p:cNvPr id="12" name="Text 10"/>
          <p:cNvSpPr/>
          <p:nvPr/>
        </p:nvSpPr>
        <p:spPr>
          <a:xfrm>
            <a:off x="457200" y="1828800"/>
            <a:ext cx="3657600" cy="640080"/>
          </a:xfrm>
          <a:prstGeom prst="rect">
            <a:avLst/>
          </a:prstGeom>
          <a:noFill/>
          <a:ln/>
        </p:spPr>
        <p:txBody>
          <a:bodyPr wrap="square" lIns="0" tIns="0" rIns="0" bIns="0" rtlCol="0" anchor="ctr"/>
          <a:lstStyle/>
          <a:p>
            <a:pPr marL="0" indent="0">
              <a:buNone/>
            </a:pPr>
            <a:r>
              <a:rPr lang="en-US" sz="900" dirty="0">
                <a:solidFill>
                  <a:srgbClr val="F0F4F8"/>
                </a:solidFill>
              </a:rPr>
              <a:t>Application Gateway</a:t>
            </a:r>
            <a:endParaRPr lang="en-US" sz="900" dirty="0"/>
          </a:p>
        </p:txBody>
      </p:sp>
      <p:sp>
        <p:nvSpPr>
          <p:cNvPr id="13" name="Shape 11"/>
          <p:cNvSpPr/>
          <p:nvPr/>
        </p:nvSpPr>
        <p:spPr>
          <a:xfrm>
            <a:off x="365760" y="2788920"/>
            <a:ext cx="3840480" cy="1325880"/>
          </a:xfrm>
          <a:prstGeom prst="rect">
            <a:avLst/>
          </a:prstGeom>
          <a:solidFill>
            <a:srgbClr val="1A2A4A"/>
          </a:solidFill>
          <a:ln/>
          <a:effectLst>
            <a:outerShdw blurRad="50800" dist="25400" dir="8100000" algn="bl" rotWithShape="0">
              <a:srgbClr val="000000">
                <a:alpha val="20000"/>
              </a:srgbClr>
            </a:outerShdw>
          </a:effectLst>
        </p:spPr>
        <p:txBody>
          <a:bodyPr/>
          <a:lstStyle/>
          <a:p>
            <a:endParaRPr lang="en-IN"/>
          </a:p>
        </p:txBody>
      </p:sp>
      <p:sp>
        <p:nvSpPr>
          <p:cNvPr id="14" name="Text 12"/>
          <p:cNvSpPr/>
          <p:nvPr/>
        </p:nvSpPr>
        <p:spPr>
          <a:xfrm>
            <a:off x="457200" y="2852928"/>
            <a:ext cx="3657600" cy="256032"/>
          </a:xfrm>
          <a:prstGeom prst="rect">
            <a:avLst/>
          </a:prstGeom>
          <a:noFill/>
          <a:ln/>
        </p:spPr>
        <p:txBody>
          <a:bodyPr wrap="square" lIns="0" tIns="0" rIns="0" bIns="0" rtlCol="0" anchor="ctr"/>
          <a:lstStyle/>
          <a:p>
            <a:pPr marL="0" indent="0">
              <a:buNone/>
            </a:pPr>
            <a:r>
              <a:rPr lang="en-US" sz="1000" b="1" dirty="0">
                <a:solidFill>
                  <a:srgbClr val="0DC5D4"/>
                </a:solidFill>
              </a:rPr>
              <a:t>AzureBastionSubnet</a:t>
            </a:r>
            <a:endParaRPr lang="en-US" sz="1000" dirty="0"/>
          </a:p>
        </p:txBody>
      </p:sp>
      <p:sp>
        <p:nvSpPr>
          <p:cNvPr id="15" name="Text 13"/>
          <p:cNvSpPr/>
          <p:nvPr/>
        </p:nvSpPr>
        <p:spPr>
          <a:xfrm>
            <a:off x="457200" y="3108960"/>
            <a:ext cx="3657600" cy="201168"/>
          </a:xfrm>
          <a:prstGeom prst="rect">
            <a:avLst/>
          </a:prstGeom>
          <a:noFill/>
          <a:ln/>
        </p:spPr>
        <p:txBody>
          <a:bodyPr wrap="square" lIns="0" tIns="0" rIns="0" bIns="0" rtlCol="0" anchor="ctr"/>
          <a:lstStyle/>
          <a:p>
            <a:pPr marL="0" indent="0">
              <a:buNone/>
            </a:pPr>
            <a:r>
              <a:rPr lang="en-US" sz="900" dirty="0">
                <a:solidFill>
                  <a:srgbClr val="CBD5E0"/>
                </a:solidFill>
              </a:rPr>
              <a:t>192.168.9.0/24</a:t>
            </a:r>
            <a:endParaRPr lang="en-US" sz="900" dirty="0"/>
          </a:p>
        </p:txBody>
      </p:sp>
      <p:sp>
        <p:nvSpPr>
          <p:cNvPr id="16" name="Text 14"/>
          <p:cNvSpPr/>
          <p:nvPr/>
        </p:nvSpPr>
        <p:spPr>
          <a:xfrm>
            <a:off x="457200" y="3337560"/>
            <a:ext cx="3657600" cy="640080"/>
          </a:xfrm>
          <a:prstGeom prst="rect">
            <a:avLst/>
          </a:prstGeom>
          <a:noFill/>
          <a:ln/>
        </p:spPr>
        <p:txBody>
          <a:bodyPr wrap="square" lIns="0" tIns="0" rIns="0" bIns="0" rtlCol="0" anchor="ctr"/>
          <a:lstStyle/>
          <a:p>
            <a:pPr marL="0" indent="0">
              <a:buNone/>
            </a:pPr>
            <a:r>
              <a:rPr lang="en-US" sz="900" dirty="0">
                <a:solidFill>
                  <a:srgbClr val="F0F4F8"/>
                </a:solidFill>
              </a:rPr>
              <a:t>Azure Bastion </a:t>
            </a:r>
            <a:endParaRPr lang="en-US" sz="900" dirty="0"/>
          </a:p>
        </p:txBody>
      </p:sp>
      <p:sp>
        <p:nvSpPr>
          <p:cNvPr id="17" name="Shape 15"/>
          <p:cNvSpPr/>
          <p:nvPr/>
        </p:nvSpPr>
        <p:spPr>
          <a:xfrm>
            <a:off x="4754880" y="777240"/>
            <a:ext cx="4160520" cy="4069080"/>
          </a:xfrm>
          <a:prstGeom prst="rect">
            <a:avLst/>
          </a:prstGeom>
          <a:solidFill>
            <a:srgbClr val="0D3060"/>
          </a:solidFill>
          <a:ln/>
          <a:effectLst>
            <a:outerShdw blurRad="101600" dist="38100" dir="8100000" algn="bl" rotWithShape="0">
              <a:srgbClr val="000000">
                <a:alpha val="30000"/>
              </a:srgbClr>
            </a:outerShdw>
          </a:effectLst>
        </p:spPr>
        <p:txBody>
          <a:bodyPr/>
          <a:lstStyle/>
          <a:p>
            <a:endParaRPr lang="en-IN"/>
          </a:p>
        </p:txBody>
      </p:sp>
      <p:sp>
        <p:nvSpPr>
          <p:cNvPr id="18" name="Shape 16"/>
          <p:cNvSpPr/>
          <p:nvPr/>
        </p:nvSpPr>
        <p:spPr>
          <a:xfrm>
            <a:off x="4754880" y="777240"/>
            <a:ext cx="4160520" cy="45720"/>
          </a:xfrm>
          <a:prstGeom prst="rect">
            <a:avLst/>
          </a:prstGeom>
          <a:solidFill>
            <a:srgbClr val="00B4D8"/>
          </a:solidFill>
          <a:ln/>
        </p:spPr>
        <p:txBody>
          <a:bodyPr/>
          <a:lstStyle/>
          <a:p>
            <a:endParaRPr lang="en-IN"/>
          </a:p>
        </p:txBody>
      </p:sp>
      <p:sp>
        <p:nvSpPr>
          <p:cNvPr id="19" name="Text 17"/>
          <p:cNvSpPr/>
          <p:nvPr/>
        </p:nvSpPr>
        <p:spPr>
          <a:xfrm>
            <a:off x="4846320" y="822960"/>
            <a:ext cx="3977640" cy="320040"/>
          </a:xfrm>
          <a:prstGeom prst="rect">
            <a:avLst/>
          </a:prstGeom>
          <a:noFill/>
          <a:ln/>
        </p:spPr>
        <p:txBody>
          <a:bodyPr wrap="square" lIns="0" tIns="0" rIns="0" bIns="0" rtlCol="0" anchor="ctr"/>
          <a:lstStyle/>
          <a:p>
            <a:pPr marL="0" indent="0">
              <a:buNone/>
            </a:pPr>
            <a:r>
              <a:rPr lang="en-US" sz="1000" b="1" dirty="0">
                <a:solidFill>
                  <a:srgbClr val="00B4D8"/>
                </a:solidFill>
              </a:rPr>
              <a:t>vnet-2 · Central India · 10.10.0.0/16</a:t>
            </a:r>
            <a:endParaRPr lang="en-US" sz="1000" dirty="0"/>
          </a:p>
        </p:txBody>
      </p:sp>
      <p:sp>
        <p:nvSpPr>
          <p:cNvPr id="20" name="Shape 18"/>
          <p:cNvSpPr/>
          <p:nvPr/>
        </p:nvSpPr>
        <p:spPr>
          <a:xfrm>
            <a:off x="4892040" y="1280160"/>
            <a:ext cx="3886200" cy="3291840"/>
          </a:xfrm>
          <a:prstGeom prst="rect">
            <a:avLst/>
          </a:prstGeom>
          <a:solidFill>
            <a:srgbClr val="0A2540"/>
          </a:solidFill>
          <a:ln/>
          <a:effectLst>
            <a:outerShdw blurRad="50800" dist="25400" dir="8100000" algn="bl" rotWithShape="0">
              <a:srgbClr val="000000">
                <a:alpha val="20000"/>
              </a:srgbClr>
            </a:outerShdw>
          </a:effectLst>
        </p:spPr>
        <p:txBody>
          <a:bodyPr/>
          <a:lstStyle/>
          <a:p>
            <a:endParaRPr lang="en-IN"/>
          </a:p>
        </p:txBody>
      </p:sp>
      <p:sp>
        <p:nvSpPr>
          <p:cNvPr id="21" name="Text 19"/>
          <p:cNvSpPr/>
          <p:nvPr/>
        </p:nvSpPr>
        <p:spPr>
          <a:xfrm>
            <a:off x="4983480" y="1344168"/>
            <a:ext cx="3657600" cy="256032"/>
          </a:xfrm>
          <a:prstGeom prst="rect">
            <a:avLst/>
          </a:prstGeom>
          <a:noFill/>
          <a:ln/>
        </p:spPr>
        <p:txBody>
          <a:bodyPr wrap="square" lIns="0" tIns="0" rIns="0" bIns="0" rtlCol="0" anchor="ctr"/>
          <a:lstStyle/>
          <a:p>
            <a:pPr marL="0" indent="0">
              <a:buNone/>
            </a:pPr>
            <a:r>
              <a:rPr lang="en-US" sz="1000" b="1" dirty="0">
                <a:solidFill>
                  <a:srgbClr val="0DC5D4"/>
                </a:solidFill>
              </a:rPr>
              <a:t>application subnet</a:t>
            </a:r>
            <a:endParaRPr lang="en-US" sz="1000" dirty="0"/>
          </a:p>
        </p:txBody>
      </p:sp>
      <p:sp>
        <p:nvSpPr>
          <p:cNvPr id="22" name="Text 20"/>
          <p:cNvSpPr/>
          <p:nvPr/>
        </p:nvSpPr>
        <p:spPr>
          <a:xfrm>
            <a:off x="4983480" y="1600200"/>
            <a:ext cx="3657600" cy="201168"/>
          </a:xfrm>
          <a:prstGeom prst="rect">
            <a:avLst/>
          </a:prstGeom>
          <a:noFill/>
          <a:ln/>
        </p:spPr>
        <p:txBody>
          <a:bodyPr wrap="square" lIns="0" tIns="0" rIns="0" bIns="0" rtlCol="0" anchor="ctr"/>
          <a:lstStyle/>
          <a:p>
            <a:pPr marL="0" indent="0">
              <a:buNone/>
            </a:pPr>
            <a:r>
              <a:rPr lang="en-US" sz="900" dirty="0">
                <a:solidFill>
                  <a:srgbClr val="CBD5E0"/>
                </a:solidFill>
              </a:rPr>
              <a:t>10.10.10.0/24</a:t>
            </a:r>
            <a:endParaRPr lang="en-US" sz="900" dirty="0"/>
          </a:p>
        </p:txBody>
      </p:sp>
      <p:sp>
        <p:nvSpPr>
          <p:cNvPr id="23" name="Text 21"/>
          <p:cNvSpPr/>
          <p:nvPr/>
        </p:nvSpPr>
        <p:spPr>
          <a:xfrm>
            <a:off x="4983480" y="1874520"/>
            <a:ext cx="3657600" cy="2560320"/>
          </a:xfrm>
          <a:prstGeom prst="rect">
            <a:avLst/>
          </a:prstGeom>
          <a:noFill/>
          <a:ln/>
        </p:spPr>
        <p:txBody>
          <a:bodyPr wrap="square" lIns="0" tIns="0" rIns="0" bIns="0" rtlCol="0" anchor="t"/>
          <a:lstStyle/>
          <a:p>
            <a:pPr marL="342900" indent="-342900">
              <a:buSzPct val="100000"/>
              <a:buChar char="•"/>
            </a:pPr>
            <a:r>
              <a:rPr lang="en-US" sz="900" dirty="0">
                <a:solidFill>
                  <a:srgbClr val="F0F4F8"/>
                </a:solidFill>
              </a:rPr>
              <a:t>app1-lb (Internal Load Balancer)</a:t>
            </a:r>
            <a:endParaRPr lang="en-US" sz="900" dirty="0"/>
          </a:p>
          <a:p>
            <a:pPr marL="342900" indent="-342900">
              <a:buSzPct val="100000"/>
              <a:buChar char="•"/>
            </a:pPr>
            <a:r>
              <a:rPr lang="en-US" sz="900" dirty="0">
                <a:solidFill>
                  <a:srgbClr val="F0F4F8"/>
                </a:solidFill>
              </a:rPr>
              <a:t>app2-lb (Internal Load Balancer)</a:t>
            </a:r>
            <a:endParaRPr lang="en-US" sz="900" dirty="0"/>
          </a:p>
          <a:p>
            <a:pPr marL="342900" indent="-342900">
              <a:buSzPct val="100000"/>
              <a:buChar char="•"/>
            </a:pPr>
            <a:r>
              <a:rPr lang="en-US" sz="900" dirty="0">
                <a:solidFill>
                  <a:srgbClr val="F0F4F8"/>
                </a:solidFill>
              </a:rPr>
              <a:t>app-1 (VM / VMSS)</a:t>
            </a:r>
            <a:endParaRPr lang="en-US" sz="900" dirty="0"/>
          </a:p>
          <a:p>
            <a:pPr marL="342900" indent="-342900">
              <a:buSzPct val="100000"/>
              <a:buChar char="•"/>
            </a:pPr>
            <a:r>
              <a:rPr lang="en-US" sz="900" dirty="0">
                <a:solidFill>
                  <a:srgbClr val="F0F4F8"/>
                </a:solidFill>
              </a:rPr>
              <a:t>app-2 (VM / VMSS)</a:t>
            </a:r>
            <a:endParaRPr lang="en-US" sz="900" dirty="0"/>
          </a:p>
          <a:p>
            <a:pPr marL="342900" indent="-342900">
              <a:buSzPct val="100000"/>
              <a:buChar char="•"/>
            </a:pPr>
            <a:r>
              <a:rPr lang="en-US" sz="900" dirty="0">
                <a:solidFill>
                  <a:srgbClr val="F0F4F8"/>
                </a:solidFill>
              </a:rPr>
              <a:t>nat-gtw (NAT Gateway)</a:t>
            </a:r>
            <a:endParaRPr lang="en-US" sz="900" dirty="0"/>
          </a:p>
          <a:p>
            <a:pPr marL="342900" indent="-342900">
              <a:buSzPct val="100000"/>
              <a:buChar char="•"/>
            </a:pPr>
            <a:r>
              <a:rPr lang="en-US" sz="900" dirty="0">
                <a:solidFill>
                  <a:srgbClr val="F0F4F8"/>
                </a:solidFill>
              </a:rPr>
              <a:t>NSG (Network Security Group)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Application Gateway + WAF</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Layer 7 intelligent routing with built-in web application firewall</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4320" y="804672"/>
            <a:ext cx="2788920" cy="402336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274320" y="804672"/>
            <a:ext cx="45720" cy="4023360"/>
          </a:xfrm>
          <a:prstGeom prst="rect">
            <a:avLst/>
          </a:prstGeom>
          <a:solidFill>
            <a:srgbClr val="0078D4"/>
          </a:solidFill>
          <a:ln/>
        </p:spPr>
        <p:txBody>
          <a:bodyPr/>
          <a:lstStyle/>
          <a:p>
            <a:endParaRPr lang="en-IN"/>
          </a:p>
        </p:txBody>
      </p:sp>
      <p:sp>
        <p:nvSpPr>
          <p:cNvPr id="8" name="Text 6"/>
          <p:cNvSpPr/>
          <p:nvPr/>
        </p:nvSpPr>
        <p:spPr>
          <a:xfrm>
            <a:off x="384048" y="877824"/>
            <a:ext cx="2606040" cy="256032"/>
          </a:xfrm>
          <a:prstGeom prst="rect">
            <a:avLst/>
          </a:prstGeom>
          <a:noFill/>
          <a:ln/>
        </p:spPr>
        <p:txBody>
          <a:bodyPr wrap="square" lIns="0" tIns="0" rIns="0" bIns="0" rtlCol="0" anchor="ctr"/>
          <a:lstStyle/>
          <a:p>
            <a:pPr marL="0" indent="0">
              <a:buNone/>
            </a:pPr>
            <a:r>
              <a:rPr lang="en-US" sz="1100" b="1" dirty="0">
                <a:solidFill>
                  <a:srgbClr val="00B4D8"/>
                </a:solidFill>
              </a:rPr>
              <a:t>Application Gateway (ap-gtw)</a:t>
            </a:r>
            <a:endParaRPr lang="en-US" sz="1100" dirty="0"/>
          </a:p>
        </p:txBody>
      </p:sp>
      <p:sp>
        <p:nvSpPr>
          <p:cNvPr id="9" name="Text 7"/>
          <p:cNvSpPr/>
          <p:nvPr/>
        </p:nvSpPr>
        <p:spPr>
          <a:xfrm>
            <a:off x="374904" y="2080006"/>
            <a:ext cx="2587752" cy="1910588"/>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Deployed in apg-subnet (192.168.10.0/24) with public IP apg-pip</a:t>
            </a:r>
            <a:endParaRPr lang="en-US" sz="950" dirty="0"/>
          </a:p>
          <a:p>
            <a:pPr marL="342900" indent="-342900">
              <a:buSzPct val="100000"/>
              <a:buChar char="•"/>
            </a:pPr>
            <a:r>
              <a:rPr lang="en-US" sz="950" dirty="0">
                <a:solidFill>
                  <a:srgbClr val="F0F4F8"/>
                </a:solidFill>
              </a:rPr>
              <a:t>Operates at OSI Layer 7 — understands HTTP/HTTPS, host headers, URL paths</a:t>
            </a:r>
            <a:endParaRPr lang="en-US" sz="950" dirty="0"/>
          </a:p>
          <a:p>
            <a:pPr marL="342900" indent="-342900">
              <a:buSzPct val="100000"/>
              <a:buChar char="•"/>
            </a:pPr>
            <a:r>
              <a:rPr lang="en-US" sz="950" dirty="0">
                <a:solidFill>
                  <a:srgbClr val="F0F4F8"/>
                </a:solidFill>
              </a:rPr>
              <a:t>Performs SSL/TLS termination — backend VMs never handle certificate complexity</a:t>
            </a:r>
            <a:endParaRPr lang="en-US" sz="950" dirty="0"/>
          </a:p>
          <a:p>
            <a:pPr marL="342900" indent="-342900">
              <a:buSzPct val="100000"/>
              <a:buChar char="•"/>
            </a:pPr>
            <a:r>
              <a:rPr lang="en-US" sz="950" dirty="0">
                <a:solidFill>
                  <a:srgbClr val="F0F4F8"/>
                </a:solidFill>
              </a:rPr>
              <a:t>Path-based routing and domain based routing</a:t>
            </a:r>
          </a:p>
          <a:p>
            <a:pPr marL="342900" indent="-342900">
              <a:buSzPct val="100000"/>
              <a:buChar char="•"/>
            </a:pPr>
            <a:r>
              <a:rPr lang="en-US" sz="950" dirty="0">
                <a:solidFill>
                  <a:srgbClr val="F0F4F8"/>
                </a:solidFill>
              </a:rPr>
              <a:t>Health probes continuously test backend VM health — unhealthy VMs removed automatically</a:t>
            </a:r>
            <a:endParaRPr lang="en-US" sz="950" dirty="0"/>
          </a:p>
        </p:txBody>
      </p:sp>
      <p:sp>
        <p:nvSpPr>
          <p:cNvPr id="10" name="Shape 8"/>
          <p:cNvSpPr/>
          <p:nvPr/>
        </p:nvSpPr>
        <p:spPr>
          <a:xfrm>
            <a:off x="3246120" y="804672"/>
            <a:ext cx="2788920" cy="4023360"/>
          </a:xfrm>
          <a:prstGeom prst="rect">
            <a:avLst/>
          </a:prstGeom>
          <a:solidFill>
            <a:srgbClr val="0D3060"/>
          </a:solidFill>
          <a:ln/>
          <a:effectLst>
            <a:outerShdw blurRad="101600" dist="38100" dir="8100000" algn="bl" rotWithShape="0">
              <a:srgbClr val="000000">
                <a:alpha val="30000"/>
              </a:srgbClr>
            </a:outerShdw>
          </a:effectLst>
        </p:spPr>
        <p:txBody>
          <a:bodyPr/>
          <a:lstStyle/>
          <a:p>
            <a:endParaRPr lang="en-IN"/>
          </a:p>
        </p:txBody>
      </p:sp>
      <p:sp>
        <p:nvSpPr>
          <p:cNvPr id="11" name="Shape 9"/>
          <p:cNvSpPr/>
          <p:nvPr/>
        </p:nvSpPr>
        <p:spPr>
          <a:xfrm>
            <a:off x="3246120" y="804672"/>
            <a:ext cx="45720" cy="4023360"/>
          </a:xfrm>
          <a:prstGeom prst="rect">
            <a:avLst/>
          </a:prstGeom>
          <a:solidFill>
            <a:srgbClr val="0078D4"/>
          </a:solidFill>
          <a:ln/>
        </p:spPr>
        <p:txBody>
          <a:bodyPr/>
          <a:lstStyle/>
          <a:p>
            <a:endParaRPr lang="en-IN"/>
          </a:p>
        </p:txBody>
      </p:sp>
      <p:sp>
        <p:nvSpPr>
          <p:cNvPr id="12" name="Text 10"/>
          <p:cNvSpPr/>
          <p:nvPr/>
        </p:nvSpPr>
        <p:spPr>
          <a:xfrm>
            <a:off x="3355848" y="877824"/>
            <a:ext cx="2606040" cy="256032"/>
          </a:xfrm>
          <a:prstGeom prst="rect">
            <a:avLst/>
          </a:prstGeom>
          <a:noFill/>
          <a:ln/>
        </p:spPr>
        <p:txBody>
          <a:bodyPr wrap="square" lIns="0" tIns="0" rIns="0" bIns="0" rtlCol="0" anchor="ctr"/>
          <a:lstStyle/>
          <a:p>
            <a:pPr marL="0" indent="0">
              <a:buNone/>
            </a:pPr>
            <a:r>
              <a:rPr lang="en-US" sz="1100" b="1" dirty="0">
                <a:solidFill>
                  <a:srgbClr val="00B4D8"/>
                </a:solidFill>
              </a:rPr>
              <a:t>WAF (Web Application Firewall)</a:t>
            </a:r>
            <a:endParaRPr lang="en-US" sz="1100" dirty="0"/>
          </a:p>
        </p:txBody>
      </p:sp>
      <p:sp>
        <p:nvSpPr>
          <p:cNvPr id="13" name="Text 11"/>
          <p:cNvSpPr/>
          <p:nvPr/>
        </p:nvSpPr>
        <p:spPr>
          <a:xfrm>
            <a:off x="3291840" y="1998218"/>
            <a:ext cx="2587752" cy="1999488"/>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Integrated WAF operates in Prevention Mode in production</a:t>
            </a:r>
            <a:endParaRPr lang="en-US" sz="950" dirty="0"/>
          </a:p>
          <a:p>
            <a:pPr marL="342900" indent="-342900">
              <a:buSzPct val="100000"/>
              <a:buChar char="•"/>
            </a:pPr>
            <a:r>
              <a:rPr lang="en-US" sz="950" dirty="0">
                <a:solidFill>
                  <a:srgbClr val="F0F4F8"/>
                </a:solidFill>
              </a:rPr>
              <a:t>OWASP Core Rule Set 3.2 — blocks SQLi, XSS, CSRF, LFI, RFI attacks</a:t>
            </a:r>
            <a:endParaRPr lang="en-US" sz="950" dirty="0"/>
          </a:p>
          <a:p>
            <a:pPr marL="342900" indent="-342900">
              <a:buSzPct val="100000"/>
              <a:buChar char="•"/>
            </a:pPr>
            <a:r>
              <a:rPr lang="en-US" sz="950" dirty="0">
                <a:solidFill>
                  <a:srgbClr val="F0F4F8"/>
                </a:solidFill>
              </a:rPr>
              <a:t>WAF logs every blocked request to Log Analytics for forensic analysis</a:t>
            </a:r>
            <a:endParaRPr lang="en-US" sz="950" dirty="0"/>
          </a:p>
          <a:p>
            <a:pPr marL="342900" indent="-342900">
              <a:buSzPct val="100000"/>
              <a:buChar char="•"/>
            </a:pPr>
            <a:r>
              <a:rPr lang="en-US" sz="950" dirty="0">
                <a:solidFill>
                  <a:srgbClr val="F0F4F8"/>
                </a:solidFill>
              </a:rPr>
              <a:t>Bot protection rules filter malicious automated traffic</a:t>
            </a:r>
            <a:endParaRPr lang="en-US" sz="950" dirty="0"/>
          </a:p>
          <a:p>
            <a:pPr marL="342900" indent="-342900">
              <a:buSzPct val="100000"/>
              <a:buChar char="•"/>
            </a:pPr>
            <a:r>
              <a:rPr lang="en-US" sz="950" dirty="0">
                <a:solidFill>
                  <a:srgbClr val="F0F4F8"/>
                </a:solidFill>
              </a:rPr>
              <a:t>Without WAF, application servers would directly face internet attack traffic</a:t>
            </a:r>
            <a:endParaRPr lang="en-US" sz="950" dirty="0"/>
          </a:p>
        </p:txBody>
      </p:sp>
      <p:sp>
        <p:nvSpPr>
          <p:cNvPr id="14" name="Shape 12"/>
          <p:cNvSpPr/>
          <p:nvPr/>
        </p:nvSpPr>
        <p:spPr>
          <a:xfrm>
            <a:off x="6035040" y="804672"/>
            <a:ext cx="2834640" cy="4023360"/>
          </a:xfrm>
          <a:prstGeom prst="rect">
            <a:avLst/>
          </a:prstGeom>
          <a:solidFill>
            <a:srgbClr val="112244"/>
          </a:solidFill>
          <a:ln/>
          <a:effectLst>
            <a:outerShdw blurRad="101600" dist="38100" dir="8100000" algn="bl" rotWithShape="0">
              <a:srgbClr val="000000">
                <a:alpha val="30000"/>
              </a:srgbClr>
            </a:outerShdw>
          </a:effectLst>
        </p:spPr>
        <p:txBody>
          <a:bodyPr/>
          <a:lstStyle/>
          <a:p>
            <a:endParaRPr lang="en-IN"/>
          </a:p>
        </p:txBody>
      </p:sp>
      <p:sp>
        <p:nvSpPr>
          <p:cNvPr id="15" name="Shape 13"/>
          <p:cNvSpPr/>
          <p:nvPr/>
        </p:nvSpPr>
        <p:spPr>
          <a:xfrm>
            <a:off x="6035040" y="804672"/>
            <a:ext cx="45720" cy="4023360"/>
          </a:xfrm>
          <a:prstGeom prst="rect">
            <a:avLst/>
          </a:prstGeom>
          <a:solidFill>
            <a:srgbClr val="0078D4"/>
          </a:solidFill>
          <a:ln/>
        </p:spPr>
        <p:txBody>
          <a:bodyPr/>
          <a:lstStyle/>
          <a:p>
            <a:endParaRPr lang="en-IN"/>
          </a:p>
        </p:txBody>
      </p:sp>
      <p:sp>
        <p:nvSpPr>
          <p:cNvPr id="16" name="Text 14"/>
          <p:cNvSpPr/>
          <p:nvPr/>
        </p:nvSpPr>
        <p:spPr>
          <a:xfrm>
            <a:off x="6144768" y="877824"/>
            <a:ext cx="2651760" cy="256032"/>
          </a:xfrm>
          <a:prstGeom prst="rect">
            <a:avLst/>
          </a:prstGeom>
          <a:noFill/>
          <a:ln/>
        </p:spPr>
        <p:txBody>
          <a:bodyPr wrap="square" lIns="0" tIns="0" rIns="0" bIns="0" rtlCol="0" anchor="ctr"/>
          <a:lstStyle/>
          <a:p>
            <a:pPr marL="0" indent="0">
              <a:buNone/>
            </a:pPr>
            <a:r>
              <a:rPr lang="en-US" sz="1100" b="1" dirty="0">
                <a:solidFill>
                  <a:srgbClr val="00B4D8"/>
                </a:solidFill>
              </a:rPr>
              <a:t>Why Not Expose VMs Directly?</a:t>
            </a:r>
            <a:endParaRPr lang="en-US" sz="1100" dirty="0"/>
          </a:p>
        </p:txBody>
      </p:sp>
      <p:sp>
        <p:nvSpPr>
          <p:cNvPr id="17" name="Text 15"/>
          <p:cNvSpPr/>
          <p:nvPr/>
        </p:nvSpPr>
        <p:spPr>
          <a:xfrm>
            <a:off x="6236208" y="2252895"/>
            <a:ext cx="2633472" cy="972905"/>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Direct VM exposure = attack surface: every port is a potential entry point</a:t>
            </a:r>
            <a:endParaRPr lang="en-US" sz="950" dirty="0"/>
          </a:p>
          <a:p>
            <a:pPr marL="342900" indent="-342900">
              <a:buSzPct val="100000"/>
              <a:buChar char="•"/>
            </a:pPr>
            <a:r>
              <a:rPr lang="en-US" sz="950" dirty="0">
                <a:solidFill>
                  <a:srgbClr val="F0F4F8"/>
                </a:solidFill>
              </a:rPr>
              <a:t>App Gateway provides a single, hardened ingress point for all traffic</a:t>
            </a:r>
            <a:endParaRPr lang="en-US" sz="950" dirty="0"/>
          </a:p>
          <a:p>
            <a:pPr marL="342900" indent="-342900">
              <a:buSzPct val="100000"/>
              <a:buChar char="•"/>
            </a:pPr>
            <a:r>
              <a:rPr lang="en-US" sz="950" dirty="0">
                <a:solidFill>
                  <a:srgbClr val="F0F4F8"/>
                </a:solidFill>
              </a:rPr>
              <a:t>Backend VMs have NO public IPs — unreachable from internet directly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Azure Bastion</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Secure, browser-based VM management without public IPs</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4320" y="804672"/>
            <a:ext cx="4160520" cy="402336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274320" y="804672"/>
            <a:ext cx="45720" cy="4023360"/>
          </a:xfrm>
          <a:prstGeom prst="rect">
            <a:avLst/>
          </a:prstGeom>
          <a:solidFill>
            <a:srgbClr val="0078D4"/>
          </a:solidFill>
          <a:ln/>
        </p:spPr>
        <p:txBody>
          <a:bodyPr/>
          <a:lstStyle/>
          <a:p>
            <a:endParaRPr lang="en-IN"/>
          </a:p>
        </p:txBody>
      </p:sp>
      <p:sp>
        <p:nvSpPr>
          <p:cNvPr id="8" name="Text 6"/>
          <p:cNvSpPr/>
          <p:nvPr/>
        </p:nvSpPr>
        <p:spPr>
          <a:xfrm>
            <a:off x="384048" y="877824"/>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What is Azure Bastion?</a:t>
            </a:r>
            <a:endParaRPr lang="en-US" sz="1100" dirty="0"/>
          </a:p>
        </p:txBody>
      </p:sp>
      <p:sp>
        <p:nvSpPr>
          <p:cNvPr id="9" name="Text 7"/>
          <p:cNvSpPr/>
          <p:nvPr/>
        </p:nvSpPr>
        <p:spPr>
          <a:xfrm>
            <a:off x="402336" y="1651000"/>
            <a:ext cx="3959352" cy="1935988"/>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Deployed inside AzureBastionSubnet (192.168.9.0/24) — subnet name is mandatory</a:t>
            </a:r>
            <a:endParaRPr lang="en-US" sz="950" dirty="0"/>
          </a:p>
          <a:p>
            <a:pPr marL="342900" indent="-342900">
              <a:buSzPct val="100000"/>
              <a:buChar char="•"/>
            </a:pPr>
            <a:r>
              <a:rPr lang="en-US" sz="950" dirty="0">
                <a:solidFill>
                  <a:srgbClr val="F0F4F8"/>
                </a:solidFill>
              </a:rPr>
              <a:t>Provides browser-based SSH (Linux) and RDP (Windows) to VMs via Azure Portal</a:t>
            </a:r>
            <a:endParaRPr lang="en-US" sz="950" dirty="0"/>
          </a:p>
          <a:p>
            <a:pPr marL="342900" indent="-342900">
              <a:buSzPct val="100000"/>
              <a:buChar char="•"/>
            </a:pPr>
            <a:r>
              <a:rPr lang="en-US" sz="950" dirty="0">
                <a:solidFill>
                  <a:srgbClr val="F0F4F8"/>
                </a:solidFill>
              </a:rPr>
              <a:t>bastion-pip is the PUBLIC IP of Bastion — NOT the VM. VMs have zero public IPs</a:t>
            </a:r>
            <a:endParaRPr lang="en-US" sz="950" dirty="0"/>
          </a:p>
          <a:p>
            <a:pPr marL="342900" indent="-342900">
              <a:buSzPct val="100000"/>
              <a:buChar char="•"/>
            </a:pPr>
            <a:r>
              <a:rPr lang="en-US" sz="950" dirty="0">
                <a:solidFill>
                  <a:srgbClr val="F0F4F8"/>
                </a:solidFill>
              </a:rPr>
              <a:t>Connection is established over TLS 443 — no need to open port 22 or 3389 in NSG</a:t>
            </a:r>
            <a:endParaRPr lang="en-US" sz="950" dirty="0"/>
          </a:p>
          <a:p>
            <a:pPr marL="342900" indent="-342900">
              <a:buSzPct val="100000"/>
              <a:buChar char="•"/>
            </a:pPr>
            <a:r>
              <a:rPr lang="en-US" sz="950" dirty="0">
                <a:solidFill>
                  <a:srgbClr val="F0F4F8"/>
                </a:solidFill>
              </a:rPr>
              <a:t>No client software required — works from any modern browser</a:t>
            </a:r>
            <a:endParaRPr lang="en-US" sz="950" dirty="0"/>
          </a:p>
          <a:p>
            <a:pPr marL="342900" indent="-342900">
              <a:buSzPct val="100000"/>
              <a:buChar char="•"/>
            </a:pPr>
            <a:r>
              <a:rPr lang="en-US" sz="950" dirty="0">
                <a:solidFill>
                  <a:srgbClr val="F0F4F8"/>
                </a:solidFill>
              </a:rPr>
              <a:t>Session recordings can be captured to Azure Blob Storage for compliance audits</a:t>
            </a:r>
            <a:endParaRPr lang="en-US" sz="950" dirty="0"/>
          </a:p>
          <a:p>
            <a:pPr marL="342900" indent="-342900">
              <a:buSzPct val="100000"/>
              <a:buChar char="•"/>
            </a:pPr>
            <a:r>
              <a:rPr lang="en-US" sz="950" dirty="0">
                <a:solidFill>
                  <a:srgbClr val="F0F4F8"/>
                </a:solidFill>
              </a:rPr>
              <a:t>Just-in-Time (JIT) VM access integration available for further hardening</a:t>
            </a:r>
            <a:endParaRPr lang="en-US" sz="950" dirty="0"/>
          </a:p>
        </p:txBody>
      </p:sp>
      <p:sp>
        <p:nvSpPr>
          <p:cNvPr id="10" name="Shape 8"/>
          <p:cNvSpPr/>
          <p:nvPr/>
        </p:nvSpPr>
        <p:spPr>
          <a:xfrm>
            <a:off x="4709160" y="804672"/>
            <a:ext cx="4160520" cy="1920240"/>
          </a:xfrm>
          <a:prstGeom prst="rect">
            <a:avLst/>
          </a:prstGeom>
          <a:solidFill>
            <a:srgbClr val="3A1A1A"/>
          </a:solidFill>
          <a:ln/>
          <a:effectLst>
            <a:outerShdw blurRad="101600" dist="38100" dir="8100000" algn="bl" rotWithShape="0">
              <a:srgbClr val="000000">
                <a:alpha val="30000"/>
              </a:srgbClr>
            </a:outerShdw>
          </a:effectLst>
        </p:spPr>
        <p:txBody>
          <a:bodyPr/>
          <a:lstStyle/>
          <a:p>
            <a:endParaRPr lang="en-IN"/>
          </a:p>
        </p:txBody>
      </p:sp>
      <p:sp>
        <p:nvSpPr>
          <p:cNvPr id="11" name="Shape 9"/>
          <p:cNvSpPr/>
          <p:nvPr/>
        </p:nvSpPr>
        <p:spPr>
          <a:xfrm>
            <a:off x="4709160" y="804672"/>
            <a:ext cx="45720" cy="1920240"/>
          </a:xfrm>
          <a:prstGeom prst="rect">
            <a:avLst/>
          </a:prstGeom>
          <a:solidFill>
            <a:srgbClr val="0078D4"/>
          </a:solidFill>
          <a:ln/>
        </p:spPr>
        <p:txBody>
          <a:bodyPr/>
          <a:lstStyle/>
          <a:p>
            <a:endParaRPr lang="en-IN"/>
          </a:p>
        </p:txBody>
      </p:sp>
      <p:sp>
        <p:nvSpPr>
          <p:cNvPr id="12" name="Text 10"/>
          <p:cNvSpPr/>
          <p:nvPr/>
        </p:nvSpPr>
        <p:spPr>
          <a:xfrm>
            <a:off x="4818888" y="877824"/>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Traditional (Risky) vs Bastion</a:t>
            </a:r>
            <a:endParaRPr lang="en-US" sz="1100" dirty="0"/>
          </a:p>
        </p:txBody>
      </p:sp>
      <p:sp>
        <p:nvSpPr>
          <p:cNvPr id="13" name="Text 11"/>
          <p:cNvSpPr/>
          <p:nvPr/>
        </p:nvSpPr>
        <p:spPr>
          <a:xfrm>
            <a:off x="4837176" y="1410081"/>
            <a:ext cx="3959352" cy="1078738"/>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 Traditional: VM has public IP → port 22 open → brute force attacks, credential stuffing</a:t>
            </a:r>
            <a:endParaRPr lang="en-US" sz="950" dirty="0"/>
          </a:p>
          <a:p>
            <a:pPr marL="342900" indent="-342900">
              <a:buSzPct val="100000"/>
              <a:buChar char="•"/>
            </a:pPr>
            <a:r>
              <a:rPr lang="en-US" sz="950" dirty="0">
                <a:solidFill>
                  <a:srgbClr val="F0F4F8"/>
                </a:solidFill>
              </a:rPr>
              <a:t>❌ Jump Box: Extra VM to manage, patch, secure — creates another attack surface</a:t>
            </a:r>
            <a:endParaRPr lang="en-US" sz="950" dirty="0"/>
          </a:p>
          <a:p>
            <a:pPr marL="342900" indent="-342900">
              <a:buSzPct val="100000"/>
              <a:buChar char="•"/>
            </a:pPr>
            <a:r>
              <a:rPr lang="en-US" sz="950" dirty="0">
                <a:solidFill>
                  <a:srgbClr val="F0F4F8"/>
                </a:solidFill>
              </a:rPr>
              <a:t>✅ Bastion: No public IP on VM, no open SSH/RDP ports, Azure AD auth + MFA, fully managed</a:t>
            </a:r>
            <a:endParaRPr lang="en-US" sz="950" dirty="0"/>
          </a:p>
        </p:txBody>
      </p:sp>
      <p:sp>
        <p:nvSpPr>
          <p:cNvPr id="14" name="Shape 12"/>
          <p:cNvSpPr/>
          <p:nvPr/>
        </p:nvSpPr>
        <p:spPr>
          <a:xfrm>
            <a:off x="4709160" y="2880360"/>
            <a:ext cx="4160520" cy="1947672"/>
          </a:xfrm>
          <a:prstGeom prst="rect">
            <a:avLst/>
          </a:prstGeom>
          <a:solidFill>
            <a:srgbClr val="0D3060"/>
          </a:solidFill>
          <a:ln/>
          <a:effectLst>
            <a:outerShdw blurRad="101600" dist="38100" dir="8100000" algn="bl" rotWithShape="0">
              <a:srgbClr val="000000">
                <a:alpha val="30000"/>
              </a:srgbClr>
            </a:outerShdw>
          </a:effectLst>
        </p:spPr>
        <p:txBody>
          <a:bodyPr/>
          <a:lstStyle/>
          <a:p>
            <a:endParaRPr lang="en-IN"/>
          </a:p>
        </p:txBody>
      </p:sp>
      <p:sp>
        <p:nvSpPr>
          <p:cNvPr id="15" name="Shape 13"/>
          <p:cNvSpPr/>
          <p:nvPr/>
        </p:nvSpPr>
        <p:spPr>
          <a:xfrm>
            <a:off x="4709160" y="2880360"/>
            <a:ext cx="45720" cy="1947672"/>
          </a:xfrm>
          <a:prstGeom prst="rect">
            <a:avLst/>
          </a:prstGeom>
          <a:solidFill>
            <a:srgbClr val="0078D4"/>
          </a:solidFill>
          <a:ln/>
        </p:spPr>
        <p:txBody>
          <a:bodyPr/>
          <a:lstStyle/>
          <a:p>
            <a:endParaRPr lang="en-IN"/>
          </a:p>
        </p:txBody>
      </p:sp>
      <p:sp>
        <p:nvSpPr>
          <p:cNvPr id="16" name="Text 14"/>
          <p:cNvSpPr/>
          <p:nvPr/>
        </p:nvSpPr>
        <p:spPr>
          <a:xfrm>
            <a:off x="4818888" y="2953512"/>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Mandatory Subnet Rules</a:t>
            </a:r>
            <a:endParaRPr lang="en-US" sz="1100" dirty="0"/>
          </a:p>
        </p:txBody>
      </p:sp>
      <p:sp>
        <p:nvSpPr>
          <p:cNvPr id="17" name="Text 15"/>
          <p:cNvSpPr/>
          <p:nvPr/>
        </p:nvSpPr>
        <p:spPr>
          <a:xfrm>
            <a:off x="4837176" y="3533013"/>
            <a:ext cx="3959352" cy="984250"/>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Subnet MUST be named 'AzureBastionSubnet' — Azure rejects any other name</a:t>
            </a:r>
            <a:endParaRPr lang="en-US" sz="950" dirty="0"/>
          </a:p>
          <a:p>
            <a:pPr marL="342900" indent="-342900">
              <a:buSzPct val="100000"/>
              <a:buChar char="•"/>
            </a:pPr>
            <a:r>
              <a:rPr lang="en-US" sz="950" dirty="0">
                <a:solidFill>
                  <a:srgbClr val="F0F4F8"/>
                </a:solidFill>
              </a:rPr>
              <a:t>Minimum /26 subnet size required (64 IPs) for Bastion scaling</a:t>
            </a:r>
            <a:endParaRPr lang="en-US" sz="950" dirty="0"/>
          </a:p>
          <a:p>
            <a:pPr marL="342900" indent="-342900">
              <a:buSzPct val="100000"/>
              <a:buChar char="•"/>
            </a:pPr>
            <a:r>
              <a:rPr lang="en-US" sz="950" dirty="0">
                <a:solidFill>
                  <a:srgbClr val="F0F4F8"/>
                </a:solidFill>
              </a:rPr>
              <a:t>NSG on Bastion subnet must allow inbound TCP 443 from Internet</a:t>
            </a:r>
            <a:endParaRPr lang="en-US" sz="950" dirty="0"/>
          </a:p>
          <a:p>
            <a:pPr marL="342900" indent="-342900">
              <a:buSzPct val="100000"/>
              <a:buChar char="•"/>
            </a:pPr>
            <a:r>
              <a:rPr lang="en-US" sz="950" dirty="0">
                <a:solidFill>
                  <a:srgbClr val="F0F4F8"/>
                </a:solidFill>
              </a:rPr>
              <a:t>NSG must allow outbound TCP 3389, 22 to VirtualNetwork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VNet Peering: vnet1-vnet2</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Private Microsoft backbone connectivity between regions</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482596" y="747437"/>
            <a:ext cx="4160520" cy="187452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2482596" y="747437"/>
            <a:ext cx="45720" cy="1874520"/>
          </a:xfrm>
          <a:prstGeom prst="rect">
            <a:avLst/>
          </a:prstGeom>
          <a:solidFill>
            <a:srgbClr val="0078D4"/>
          </a:solidFill>
          <a:ln/>
        </p:spPr>
        <p:txBody>
          <a:bodyPr/>
          <a:lstStyle/>
          <a:p>
            <a:endParaRPr lang="en-IN"/>
          </a:p>
        </p:txBody>
      </p:sp>
      <p:sp>
        <p:nvSpPr>
          <p:cNvPr id="8" name="Text 6"/>
          <p:cNvSpPr/>
          <p:nvPr/>
        </p:nvSpPr>
        <p:spPr>
          <a:xfrm>
            <a:off x="2592324" y="820589"/>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How Peering Works</a:t>
            </a:r>
            <a:endParaRPr lang="en-US" sz="1100" dirty="0"/>
          </a:p>
        </p:txBody>
      </p:sp>
      <p:sp>
        <p:nvSpPr>
          <p:cNvPr id="9" name="Text 7"/>
          <p:cNvSpPr/>
          <p:nvPr/>
        </p:nvSpPr>
        <p:spPr>
          <a:xfrm>
            <a:off x="2656334" y="1190582"/>
            <a:ext cx="3959352" cy="1111843"/>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vnet-1 (West US 2) ↔ vnet-2 (Central India) connected via Global VNet Peering</a:t>
            </a:r>
            <a:endParaRPr lang="en-US" sz="950" dirty="0"/>
          </a:p>
          <a:p>
            <a:pPr marL="342900" indent="-342900">
              <a:buSzPct val="100000"/>
              <a:buChar char="•"/>
            </a:pPr>
            <a:r>
              <a:rPr lang="en-US" sz="950" dirty="0">
                <a:solidFill>
                  <a:srgbClr val="F0F4F8"/>
                </a:solidFill>
              </a:rPr>
              <a:t>Traffic stays entirely on Microsoft's private backbone — never touches public internet</a:t>
            </a:r>
            <a:endParaRPr lang="en-US" sz="950" dirty="0"/>
          </a:p>
          <a:p>
            <a:pPr marL="342900" indent="-342900">
              <a:buSzPct val="100000"/>
              <a:buChar char="•"/>
            </a:pPr>
            <a:r>
              <a:rPr lang="en-US" sz="950" dirty="0">
                <a:solidFill>
                  <a:srgbClr val="F0F4F8"/>
                </a:solidFill>
              </a:rPr>
              <a:t>Non-overlapping CIDRs required: 192.168.0.0/16 and 10.10.0.0/16</a:t>
            </a:r>
            <a:endParaRPr lang="en-US" sz="950" dirty="0"/>
          </a:p>
          <a:p>
            <a:pPr marL="342900" indent="-342900">
              <a:buSzPct val="100000"/>
              <a:buChar char="•"/>
            </a:pPr>
            <a:r>
              <a:rPr lang="en-US" sz="950" dirty="0">
                <a:solidFill>
                  <a:srgbClr val="F0F4F8"/>
                </a:solidFill>
              </a:rPr>
              <a:t>Peering is bi-directional: two peering links created (vnet1→vnet2 and vnet2→vnet1)</a:t>
            </a:r>
            <a:endParaRPr lang="en-US" sz="950" dirty="0"/>
          </a:p>
        </p:txBody>
      </p:sp>
      <p:sp>
        <p:nvSpPr>
          <p:cNvPr id="14" name="Shape 12"/>
          <p:cNvSpPr/>
          <p:nvPr/>
        </p:nvSpPr>
        <p:spPr>
          <a:xfrm>
            <a:off x="274320" y="2834640"/>
            <a:ext cx="8595360" cy="1965960"/>
          </a:xfrm>
          <a:prstGeom prst="rect">
            <a:avLst/>
          </a:prstGeom>
          <a:solidFill>
            <a:srgbClr val="0A2D4A"/>
          </a:solidFill>
          <a:ln/>
          <a:effectLst>
            <a:outerShdw blurRad="101600" dist="38100" dir="8100000" algn="bl" rotWithShape="0">
              <a:srgbClr val="000000">
                <a:alpha val="30000"/>
              </a:srgbClr>
            </a:outerShdw>
          </a:effectLst>
        </p:spPr>
        <p:txBody>
          <a:bodyPr/>
          <a:lstStyle/>
          <a:p>
            <a:endParaRPr lang="en-IN"/>
          </a:p>
        </p:txBody>
      </p:sp>
      <p:sp>
        <p:nvSpPr>
          <p:cNvPr id="15" name="Shape 13"/>
          <p:cNvSpPr/>
          <p:nvPr/>
        </p:nvSpPr>
        <p:spPr>
          <a:xfrm>
            <a:off x="274320" y="2834640"/>
            <a:ext cx="45720" cy="1965960"/>
          </a:xfrm>
          <a:prstGeom prst="rect">
            <a:avLst/>
          </a:prstGeom>
          <a:solidFill>
            <a:srgbClr val="0078D4"/>
          </a:solidFill>
          <a:ln/>
        </p:spPr>
        <p:txBody>
          <a:bodyPr/>
          <a:lstStyle/>
          <a:p>
            <a:endParaRPr lang="en-IN"/>
          </a:p>
        </p:txBody>
      </p:sp>
      <p:sp>
        <p:nvSpPr>
          <p:cNvPr id="16" name="Text 14"/>
          <p:cNvSpPr/>
          <p:nvPr/>
        </p:nvSpPr>
        <p:spPr>
          <a:xfrm>
            <a:off x="384048" y="2907792"/>
            <a:ext cx="8412480" cy="256032"/>
          </a:xfrm>
          <a:prstGeom prst="rect">
            <a:avLst/>
          </a:prstGeom>
          <a:noFill/>
          <a:ln/>
        </p:spPr>
        <p:txBody>
          <a:bodyPr wrap="square" lIns="0" tIns="0" rIns="0" bIns="0" rtlCol="0" anchor="ctr"/>
          <a:lstStyle/>
          <a:p>
            <a:pPr marL="0" indent="0">
              <a:buNone/>
            </a:pPr>
            <a:r>
              <a:rPr lang="en-US" sz="1100" b="1" dirty="0">
                <a:solidFill>
                  <a:srgbClr val="00B4D8"/>
                </a:solidFill>
              </a:rPr>
              <a:t>Traffic Flow via Peering</a:t>
            </a:r>
            <a:endParaRPr lang="en-US" sz="1100" dirty="0"/>
          </a:p>
        </p:txBody>
      </p:sp>
      <p:sp>
        <p:nvSpPr>
          <p:cNvPr id="17" name="Text 15"/>
          <p:cNvSpPr/>
          <p:nvPr/>
        </p:nvSpPr>
        <p:spPr>
          <a:xfrm>
            <a:off x="384048" y="3515191"/>
            <a:ext cx="8394192" cy="807720"/>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User request → apg-pip (West US 2) → App Gateway → [VNet Peering] → ILB in Central India → App VM</a:t>
            </a:r>
            <a:endParaRPr lang="en-US" sz="950" dirty="0"/>
          </a:p>
          <a:p>
            <a:pPr marL="342900" indent="-342900">
              <a:buSzPct val="100000"/>
              <a:buChar char="•"/>
            </a:pPr>
            <a:r>
              <a:rPr lang="en-US" sz="950" dirty="0">
                <a:solidFill>
                  <a:srgbClr val="F0F4F8"/>
                </a:solidFill>
              </a:rPr>
              <a:t>Return path: App VM → ILB → [VNet Peering] → App Gateway → apg-pip → User</a:t>
            </a:r>
            <a:endParaRPr lang="en-US" sz="950" dirty="0"/>
          </a:p>
          <a:p>
            <a:pPr marL="342900" indent="-342900">
              <a:buSzPct val="100000"/>
              <a:buChar char="•"/>
            </a:pPr>
            <a:r>
              <a:rPr lang="en-US" sz="950" dirty="0">
                <a:solidFill>
                  <a:srgbClr val="F0F4F8"/>
                </a:solidFill>
              </a:rPr>
              <a:t>Admin: Bastion (West US 2) → [VNet Peering] → App VM SSH session (Central India)</a:t>
            </a:r>
            <a:endParaRPr lang="en-US" sz="950" dirty="0"/>
          </a:p>
          <a:p>
            <a:pPr marL="342900" indent="-342900">
              <a:buSzPct val="100000"/>
              <a:buChar char="•"/>
            </a:pPr>
            <a:r>
              <a:rPr lang="en-US" sz="950" dirty="0">
                <a:solidFill>
                  <a:srgbClr val="F0F4F8"/>
                </a:solidFill>
              </a:rPr>
              <a:t>All cross-region traffic is private, low-latency, and encrypted at the Microsoft network layer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Internal Load Balancers (app1-ilb, app2-ilb)</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Private traffic distribution within the application subnet</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04253" y="815679"/>
            <a:ext cx="4160520" cy="402336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dirty="0"/>
          </a:p>
        </p:txBody>
      </p:sp>
      <p:sp>
        <p:nvSpPr>
          <p:cNvPr id="7" name="Shape 5"/>
          <p:cNvSpPr/>
          <p:nvPr/>
        </p:nvSpPr>
        <p:spPr>
          <a:xfrm>
            <a:off x="2704253" y="815679"/>
            <a:ext cx="45720" cy="4023360"/>
          </a:xfrm>
          <a:prstGeom prst="rect">
            <a:avLst/>
          </a:prstGeom>
          <a:solidFill>
            <a:srgbClr val="0078D4"/>
          </a:solidFill>
          <a:ln/>
        </p:spPr>
        <p:txBody>
          <a:bodyPr/>
          <a:lstStyle/>
          <a:p>
            <a:endParaRPr lang="en-IN"/>
          </a:p>
        </p:txBody>
      </p:sp>
      <p:sp>
        <p:nvSpPr>
          <p:cNvPr id="9" name="Text 7"/>
          <p:cNvSpPr/>
          <p:nvPr/>
        </p:nvSpPr>
        <p:spPr>
          <a:xfrm>
            <a:off x="2827697" y="1909826"/>
            <a:ext cx="3959352" cy="1548214"/>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Standard Internal Load Balancer with private frontend IP in 10.10.10.0/24</a:t>
            </a:r>
            <a:endParaRPr lang="en-US" sz="950" dirty="0"/>
          </a:p>
          <a:p>
            <a:pPr marL="342900" indent="-342900">
              <a:buSzPct val="100000"/>
              <a:buChar char="•"/>
            </a:pPr>
            <a:r>
              <a:rPr lang="en-US" sz="950" dirty="0">
                <a:solidFill>
                  <a:srgbClr val="F0F4F8"/>
                </a:solidFill>
              </a:rPr>
              <a:t>Distributes traffic from App Gateway to VMSS backend pool</a:t>
            </a:r>
            <a:endParaRPr lang="en-US" sz="950" dirty="0"/>
          </a:p>
          <a:p>
            <a:pPr marL="342900" indent="-342900">
              <a:buSzPct val="100000"/>
              <a:buChar char="•"/>
            </a:pPr>
            <a:r>
              <a:rPr lang="en-US" sz="950" dirty="0">
                <a:solidFill>
                  <a:srgbClr val="F0F4F8"/>
                </a:solidFill>
              </a:rPr>
              <a:t>Health probes on TCP:80 — removes unhealthy VMs from rotation in &lt; 30 sec</a:t>
            </a:r>
            <a:endParaRPr lang="en-US" sz="950" dirty="0"/>
          </a:p>
          <a:p>
            <a:pPr marL="342900" indent="-342900">
              <a:buSzPct val="100000"/>
              <a:buChar char="•"/>
            </a:pPr>
            <a:r>
              <a:rPr lang="en-US" sz="950" dirty="0">
                <a:solidFill>
                  <a:srgbClr val="F0F4F8"/>
                </a:solidFill>
              </a:rPr>
              <a:t>No public IP — only reachable from within the VNet or peered VNets</a:t>
            </a:r>
            <a:endParaRPr lang="en-US" sz="950" dirty="0"/>
          </a:p>
          <a:p>
            <a:pPr marL="342900" indent="-342900">
              <a:buSzPct val="100000"/>
              <a:buChar char="•"/>
            </a:pPr>
            <a:r>
              <a:rPr lang="en-US" sz="950" dirty="0">
                <a:solidFill>
                  <a:srgbClr val="F0F4F8"/>
                </a:solidFill>
              </a:rPr>
              <a:t>Enables zero-downtime rolling deployments: drain one VM, update, re-add</a:t>
            </a:r>
          </a:p>
          <a:p>
            <a:pPr marL="342900" indent="-342900">
              <a:buSzPct val="100000"/>
              <a:buChar char="•"/>
            </a:pPr>
            <a:r>
              <a:rPr lang="en-US" sz="950" dirty="0">
                <a:solidFill>
                  <a:srgbClr val="F0F4F8"/>
                </a:solidFill>
              </a:rPr>
              <a:t>Each ILB has independent health probes, backend pools, and load balancing rules</a:t>
            </a:r>
            <a:endParaRPr lang="en-US" sz="950" dirty="0"/>
          </a:p>
          <a:p>
            <a:pPr marL="342900" indent="-342900">
              <a:buSzPct val="100000"/>
              <a:buChar char="•"/>
            </a:pPr>
            <a:r>
              <a:rPr lang="en-US" sz="950" dirty="0">
                <a:solidFill>
                  <a:srgbClr val="F0F4F8"/>
                </a:solidFill>
              </a:rPr>
              <a:t>Supports TCP/UDP load balancing for non-HTTP application protocols</a:t>
            </a:r>
            <a:endParaRPr lang="en-US" sz="950" dirty="0"/>
          </a:p>
          <a:p>
            <a:pPr marL="342900" indent="-342900">
              <a:buSzPct val="100000"/>
              <a:buChar char="•"/>
            </a:pPr>
            <a:endParaRPr lang="en-US" sz="950" dirty="0">
              <a:solidFill>
                <a:srgbClr val="F0F4F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VM Scale Sets (VMSS) — app-1 &amp; app-2</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Auto-scaling application hosting behind internal load balancers</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4320" y="804672"/>
            <a:ext cx="2788920" cy="402336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274320" y="804672"/>
            <a:ext cx="45720" cy="4023360"/>
          </a:xfrm>
          <a:prstGeom prst="rect">
            <a:avLst/>
          </a:prstGeom>
          <a:solidFill>
            <a:srgbClr val="0078D4"/>
          </a:solidFill>
          <a:ln/>
        </p:spPr>
        <p:txBody>
          <a:bodyPr/>
          <a:lstStyle/>
          <a:p>
            <a:endParaRPr lang="en-IN"/>
          </a:p>
        </p:txBody>
      </p:sp>
      <p:sp>
        <p:nvSpPr>
          <p:cNvPr id="8" name="Text 6"/>
          <p:cNvSpPr/>
          <p:nvPr/>
        </p:nvSpPr>
        <p:spPr>
          <a:xfrm>
            <a:off x="384048" y="877824"/>
            <a:ext cx="2606040" cy="256032"/>
          </a:xfrm>
          <a:prstGeom prst="rect">
            <a:avLst/>
          </a:prstGeom>
          <a:noFill/>
          <a:ln/>
        </p:spPr>
        <p:txBody>
          <a:bodyPr wrap="square" lIns="0" tIns="0" rIns="0" bIns="0" rtlCol="0" anchor="ctr"/>
          <a:lstStyle/>
          <a:p>
            <a:pPr marL="0" indent="0">
              <a:buNone/>
            </a:pPr>
            <a:r>
              <a:rPr lang="en-US" sz="1100" b="1" dirty="0">
                <a:solidFill>
                  <a:srgbClr val="00B4D8"/>
                </a:solidFill>
              </a:rPr>
              <a:t>VMSS Core Benefits</a:t>
            </a:r>
            <a:endParaRPr lang="en-US" sz="1100" dirty="0"/>
          </a:p>
        </p:txBody>
      </p:sp>
      <p:sp>
        <p:nvSpPr>
          <p:cNvPr id="9" name="Text 7"/>
          <p:cNvSpPr/>
          <p:nvPr/>
        </p:nvSpPr>
        <p:spPr>
          <a:xfrm>
            <a:off x="402336" y="1842008"/>
            <a:ext cx="2587752" cy="2177288"/>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Auto-scale based on CPU, Memory, HTTP queue depth, or custom metrics</a:t>
            </a:r>
            <a:endParaRPr lang="en-US" sz="950" dirty="0"/>
          </a:p>
          <a:p>
            <a:pPr marL="342900" indent="-342900">
              <a:buSzPct val="100000"/>
              <a:buChar char="•"/>
            </a:pPr>
            <a:r>
              <a:rPr lang="en-US" sz="950" dirty="0">
                <a:solidFill>
                  <a:srgbClr val="F0F4F8"/>
                </a:solidFill>
              </a:rPr>
              <a:t>Scale OUT: add VMs when load increases (e.g., CPU &gt; 70% for 5 min)</a:t>
            </a:r>
            <a:endParaRPr lang="en-US" sz="950" dirty="0"/>
          </a:p>
          <a:p>
            <a:pPr marL="342900" indent="-342900">
              <a:buSzPct val="100000"/>
              <a:buChar char="•"/>
            </a:pPr>
            <a:r>
              <a:rPr lang="en-US" sz="950" dirty="0">
                <a:solidFill>
                  <a:srgbClr val="F0F4F8"/>
                </a:solidFill>
              </a:rPr>
              <a:t>Scale IN: remove VMs when load drops (e.g., CPU &lt; 30% for 10 min)</a:t>
            </a:r>
            <a:endParaRPr lang="en-US" sz="950" dirty="0"/>
          </a:p>
          <a:p>
            <a:pPr marL="342900" indent="-342900">
              <a:buSzPct val="100000"/>
              <a:buChar char="•"/>
            </a:pPr>
            <a:r>
              <a:rPr lang="en-US" sz="950" dirty="0">
                <a:solidFill>
                  <a:srgbClr val="F0F4F8"/>
                </a:solidFill>
              </a:rPr>
              <a:t>VMs distributed across Fault Domains — hardware failure doesn't take down all VMs</a:t>
            </a:r>
            <a:endParaRPr lang="en-US" sz="950" dirty="0"/>
          </a:p>
          <a:p>
            <a:pPr marL="342900" indent="-342900">
              <a:buSzPct val="100000"/>
              <a:buChar char="•"/>
            </a:pPr>
            <a:r>
              <a:rPr lang="en-US" sz="950" dirty="0">
                <a:solidFill>
                  <a:srgbClr val="F0F4F8"/>
                </a:solidFill>
              </a:rPr>
              <a:t>Identical VM configuration across all instances — no snowflake servers</a:t>
            </a:r>
            <a:endParaRPr lang="en-US" sz="950" dirty="0"/>
          </a:p>
        </p:txBody>
      </p:sp>
      <p:sp>
        <p:nvSpPr>
          <p:cNvPr id="10" name="Shape 8"/>
          <p:cNvSpPr/>
          <p:nvPr/>
        </p:nvSpPr>
        <p:spPr>
          <a:xfrm>
            <a:off x="3246120" y="804672"/>
            <a:ext cx="2788920" cy="4023360"/>
          </a:xfrm>
          <a:prstGeom prst="rect">
            <a:avLst/>
          </a:prstGeom>
          <a:solidFill>
            <a:srgbClr val="0D3060"/>
          </a:solidFill>
          <a:ln/>
          <a:effectLst>
            <a:outerShdw blurRad="101600" dist="38100" dir="8100000" algn="bl" rotWithShape="0">
              <a:srgbClr val="000000">
                <a:alpha val="30000"/>
              </a:srgbClr>
            </a:outerShdw>
          </a:effectLst>
        </p:spPr>
        <p:txBody>
          <a:bodyPr/>
          <a:lstStyle/>
          <a:p>
            <a:endParaRPr lang="en-IN"/>
          </a:p>
        </p:txBody>
      </p:sp>
      <p:sp>
        <p:nvSpPr>
          <p:cNvPr id="11" name="Shape 9"/>
          <p:cNvSpPr/>
          <p:nvPr/>
        </p:nvSpPr>
        <p:spPr>
          <a:xfrm>
            <a:off x="3246120" y="804672"/>
            <a:ext cx="45720" cy="4023360"/>
          </a:xfrm>
          <a:prstGeom prst="rect">
            <a:avLst/>
          </a:prstGeom>
          <a:solidFill>
            <a:srgbClr val="0078D4"/>
          </a:solidFill>
          <a:ln/>
        </p:spPr>
        <p:txBody>
          <a:bodyPr/>
          <a:lstStyle/>
          <a:p>
            <a:endParaRPr lang="en-IN"/>
          </a:p>
        </p:txBody>
      </p:sp>
      <p:sp>
        <p:nvSpPr>
          <p:cNvPr id="12" name="Text 10"/>
          <p:cNvSpPr/>
          <p:nvPr/>
        </p:nvSpPr>
        <p:spPr>
          <a:xfrm>
            <a:off x="3355848" y="877824"/>
            <a:ext cx="2606040" cy="256032"/>
          </a:xfrm>
          <a:prstGeom prst="rect">
            <a:avLst/>
          </a:prstGeom>
          <a:noFill/>
          <a:ln/>
        </p:spPr>
        <p:txBody>
          <a:bodyPr wrap="square" lIns="0" tIns="0" rIns="0" bIns="0" rtlCol="0" anchor="ctr"/>
          <a:lstStyle/>
          <a:p>
            <a:pPr marL="0" indent="0">
              <a:buNone/>
            </a:pPr>
            <a:r>
              <a:rPr lang="en-US" sz="1100" b="1" dirty="0">
                <a:solidFill>
                  <a:srgbClr val="00B4D8"/>
                </a:solidFill>
              </a:rPr>
              <a:t>Deployment Architecture</a:t>
            </a:r>
            <a:endParaRPr lang="en-US" sz="1100" dirty="0"/>
          </a:p>
        </p:txBody>
      </p:sp>
      <p:sp>
        <p:nvSpPr>
          <p:cNvPr id="13" name="Text 11"/>
          <p:cNvSpPr/>
          <p:nvPr/>
        </p:nvSpPr>
        <p:spPr>
          <a:xfrm>
            <a:off x="3392424" y="1816608"/>
            <a:ext cx="2587752" cy="1790192"/>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All VMSS VMs in application subnet (10.10.10.0/24)</a:t>
            </a:r>
            <a:endParaRPr lang="en-US" sz="950" dirty="0"/>
          </a:p>
          <a:p>
            <a:pPr marL="342900" indent="-342900">
              <a:buSzPct val="100000"/>
              <a:buChar char="•"/>
            </a:pPr>
            <a:r>
              <a:rPr lang="en-US" sz="950" dirty="0">
                <a:solidFill>
                  <a:srgbClr val="F0F4F8"/>
                </a:solidFill>
              </a:rPr>
              <a:t>VMs launched from golden image or marketplace image with cloud-init</a:t>
            </a:r>
            <a:endParaRPr lang="en-US" sz="950" dirty="0"/>
          </a:p>
          <a:p>
            <a:pPr marL="342900" indent="-342900">
              <a:buSzPct val="100000"/>
              <a:buChar char="•"/>
            </a:pPr>
            <a:r>
              <a:rPr lang="en-US" sz="950" dirty="0">
                <a:solidFill>
                  <a:srgbClr val="F0F4F8"/>
                </a:solidFill>
              </a:rPr>
              <a:t>Application deployed via custom script extension or Azure DevOps pipeline</a:t>
            </a:r>
            <a:endParaRPr lang="en-US" sz="950" dirty="0"/>
          </a:p>
          <a:p>
            <a:pPr marL="342900" indent="-342900">
              <a:buSzPct val="100000"/>
              <a:buChar char="•"/>
            </a:pPr>
            <a:r>
              <a:rPr lang="en-US" sz="950" dirty="0">
                <a:solidFill>
                  <a:srgbClr val="F0F4F8"/>
                </a:solidFill>
              </a:rPr>
              <a:t>VMs pull updates from Azure Storage or private container registry</a:t>
            </a:r>
            <a:endParaRPr lang="en-US" sz="950" dirty="0"/>
          </a:p>
          <a:p>
            <a:pPr marL="342900" indent="-342900">
              <a:buSzPct val="100000"/>
              <a:buChar char="•"/>
            </a:pPr>
            <a:r>
              <a:rPr lang="en-US" sz="950" dirty="0">
                <a:solidFill>
                  <a:srgbClr val="F0F4F8"/>
                </a:solidFill>
              </a:rPr>
              <a:t>NAT Gateway provides outbound internet for package downloads / API calls</a:t>
            </a:r>
            <a:endParaRPr lang="en-US" sz="950" dirty="0"/>
          </a:p>
        </p:txBody>
      </p:sp>
      <p:sp>
        <p:nvSpPr>
          <p:cNvPr id="14" name="Shape 12"/>
          <p:cNvSpPr/>
          <p:nvPr/>
        </p:nvSpPr>
        <p:spPr>
          <a:xfrm>
            <a:off x="6035040" y="804672"/>
            <a:ext cx="2834640" cy="4023360"/>
          </a:xfrm>
          <a:prstGeom prst="rect">
            <a:avLst/>
          </a:prstGeom>
          <a:solidFill>
            <a:srgbClr val="0D2A4A"/>
          </a:solidFill>
          <a:ln/>
          <a:effectLst>
            <a:outerShdw blurRad="101600" dist="38100" dir="8100000" algn="bl" rotWithShape="0">
              <a:srgbClr val="000000">
                <a:alpha val="30000"/>
              </a:srgbClr>
            </a:outerShdw>
          </a:effectLst>
        </p:spPr>
        <p:txBody>
          <a:bodyPr/>
          <a:lstStyle/>
          <a:p>
            <a:endParaRPr lang="en-IN"/>
          </a:p>
        </p:txBody>
      </p:sp>
      <p:sp>
        <p:nvSpPr>
          <p:cNvPr id="15" name="Shape 13"/>
          <p:cNvSpPr/>
          <p:nvPr/>
        </p:nvSpPr>
        <p:spPr>
          <a:xfrm>
            <a:off x="6035040" y="804672"/>
            <a:ext cx="45720" cy="4023360"/>
          </a:xfrm>
          <a:prstGeom prst="rect">
            <a:avLst/>
          </a:prstGeom>
          <a:solidFill>
            <a:srgbClr val="0078D4"/>
          </a:solidFill>
          <a:ln/>
        </p:spPr>
        <p:txBody>
          <a:bodyPr/>
          <a:lstStyle/>
          <a:p>
            <a:endParaRPr lang="en-IN"/>
          </a:p>
        </p:txBody>
      </p:sp>
      <p:sp>
        <p:nvSpPr>
          <p:cNvPr id="16" name="Text 14"/>
          <p:cNvSpPr/>
          <p:nvPr/>
        </p:nvSpPr>
        <p:spPr>
          <a:xfrm>
            <a:off x="6144768" y="877824"/>
            <a:ext cx="2651760" cy="256032"/>
          </a:xfrm>
          <a:prstGeom prst="rect">
            <a:avLst/>
          </a:prstGeom>
          <a:noFill/>
          <a:ln/>
        </p:spPr>
        <p:txBody>
          <a:bodyPr wrap="square" lIns="0" tIns="0" rIns="0" bIns="0" rtlCol="0" anchor="ctr"/>
          <a:lstStyle/>
          <a:p>
            <a:pPr marL="0" indent="0">
              <a:buNone/>
            </a:pPr>
            <a:r>
              <a:rPr lang="en-US" sz="1100" b="1" dirty="0">
                <a:solidFill>
                  <a:srgbClr val="00B4D8"/>
                </a:solidFill>
              </a:rPr>
              <a:t>HA &amp; Fault Tolerance</a:t>
            </a:r>
            <a:endParaRPr lang="en-US" sz="1100" dirty="0"/>
          </a:p>
        </p:txBody>
      </p:sp>
      <p:sp>
        <p:nvSpPr>
          <p:cNvPr id="17" name="Text 15"/>
          <p:cNvSpPr/>
          <p:nvPr/>
        </p:nvSpPr>
        <p:spPr>
          <a:xfrm>
            <a:off x="6153912" y="1788838"/>
            <a:ext cx="2633472" cy="1906355"/>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Availability Zones: VMs spread across Zone 1, 2, 3 in Central India</a:t>
            </a:r>
            <a:endParaRPr lang="en-US" sz="950" dirty="0"/>
          </a:p>
          <a:p>
            <a:pPr marL="342900" indent="-342900">
              <a:buSzPct val="100000"/>
              <a:buChar char="•"/>
            </a:pPr>
            <a:r>
              <a:rPr lang="en-US" sz="950" dirty="0">
                <a:solidFill>
                  <a:srgbClr val="F0F4F8"/>
                </a:solidFill>
              </a:rPr>
              <a:t>If one AZ goes down, other AZs still serve traffic</a:t>
            </a:r>
            <a:endParaRPr lang="en-US" sz="950" dirty="0"/>
          </a:p>
          <a:p>
            <a:pPr marL="342900" indent="-342900">
              <a:buSzPct val="100000"/>
              <a:buChar char="•"/>
            </a:pPr>
            <a:r>
              <a:rPr lang="en-US" sz="950" dirty="0">
                <a:solidFill>
                  <a:srgbClr val="F0F4F8"/>
                </a:solidFill>
              </a:rPr>
              <a:t>Health extension on VMSS detects unhealthy app state → replaces VM automatically</a:t>
            </a:r>
            <a:endParaRPr lang="en-US" sz="950" dirty="0"/>
          </a:p>
          <a:p>
            <a:pPr marL="342900" indent="-342900">
              <a:buSzPct val="100000"/>
              <a:buChar char="•"/>
            </a:pPr>
            <a:r>
              <a:rPr lang="en-US" sz="950" dirty="0">
                <a:solidFill>
                  <a:srgbClr val="F0F4F8"/>
                </a:solidFill>
              </a:rPr>
              <a:t>Overprovision setting: VMSS creates extra VMs during scale-out for faster response</a:t>
            </a:r>
            <a:endParaRPr lang="en-US" sz="950" dirty="0"/>
          </a:p>
          <a:p>
            <a:pPr marL="342900" indent="-342900">
              <a:buSzPct val="100000"/>
              <a:buChar char="•"/>
            </a:pPr>
            <a:r>
              <a:rPr lang="en-US" sz="950" dirty="0">
                <a:solidFill>
                  <a:srgbClr val="F0F4F8"/>
                </a:solidFill>
              </a:rPr>
              <a:t>Integration with Azure Monitor for predictive auto-scaling</a:t>
            </a:r>
            <a:endParaRPr lang="en-US" sz="950" dirty="0"/>
          </a:p>
          <a:p>
            <a:pPr marL="342900" indent="-342900">
              <a:buSzPct val="100000"/>
              <a:buChar char="•"/>
            </a:pPr>
            <a:r>
              <a:rPr lang="en-US" sz="950" dirty="0">
                <a:solidFill>
                  <a:srgbClr val="F0F4F8"/>
                </a:solidFill>
              </a:rPr>
              <a:t>Scale set capacity can be managed via Azure Autoscale profiles (schedule + metric)</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NAT Gateway (nat-gtw)</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Controlled outbound internet access with static IP</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4320" y="804672"/>
            <a:ext cx="4160520" cy="402336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274320" y="804672"/>
            <a:ext cx="45720" cy="4023360"/>
          </a:xfrm>
          <a:prstGeom prst="rect">
            <a:avLst/>
          </a:prstGeom>
          <a:solidFill>
            <a:srgbClr val="0078D4"/>
          </a:solidFill>
          <a:ln/>
        </p:spPr>
        <p:txBody>
          <a:bodyPr/>
          <a:lstStyle/>
          <a:p>
            <a:endParaRPr lang="en-IN"/>
          </a:p>
        </p:txBody>
      </p:sp>
      <p:sp>
        <p:nvSpPr>
          <p:cNvPr id="8" name="Text 6"/>
          <p:cNvSpPr/>
          <p:nvPr/>
        </p:nvSpPr>
        <p:spPr>
          <a:xfrm>
            <a:off x="384048" y="877824"/>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Why NAT Gateway?</a:t>
            </a:r>
            <a:endParaRPr lang="en-US" sz="1100" dirty="0"/>
          </a:p>
        </p:txBody>
      </p:sp>
      <p:sp>
        <p:nvSpPr>
          <p:cNvPr id="9" name="Text 7"/>
          <p:cNvSpPr/>
          <p:nvPr/>
        </p:nvSpPr>
        <p:spPr>
          <a:xfrm>
            <a:off x="402336" y="1870794"/>
            <a:ext cx="3959352" cy="1533821"/>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App VMs have NO public IPs — they cannot directly initiate outbound internet connections</a:t>
            </a:r>
            <a:endParaRPr lang="en-US" sz="950" dirty="0"/>
          </a:p>
          <a:p>
            <a:pPr marL="342900" indent="-342900">
              <a:buSzPct val="100000"/>
              <a:buChar char="•"/>
            </a:pPr>
            <a:r>
              <a:rPr lang="en-US" sz="950" dirty="0">
                <a:solidFill>
                  <a:srgbClr val="F0F4F8"/>
                </a:solidFill>
              </a:rPr>
              <a:t>VMs need outbound access for: package manager updates, license validation, external API calls, telemetry</a:t>
            </a:r>
            <a:endParaRPr lang="en-US" sz="950" dirty="0"/>
          </a:p>
          <a:p>
            <a:pPr marL="342900" indent="-342900">
              <a:buSzPct val="100000"/>
              <a:buChar char="•"/>
            </a:pPr>
            <a:r>
              <a:rPr lang="en-US" sz="950" dirty="0">
                <a:solidFill>
                  <a:srgbClr val="F0F4F8"/>
                </a:solidFill>
              </a:rPr>
              <a:t>NAT Gateway provides SNAT (Source Network Address Translation) using nat-pip (static public IP)</a:t>
            </a:r>
            <a:endParaRPr lang="en-US" sz="950" dirty="0"/>
          </a:p>
          <a:p>
            <a:pPr marL="342900" indent="-342900">
              <a:buSzPct val="100000"/>
              <a:buChar char="•"/>
            </a:pPr>
            <a:r>
              <a:rPr lang="en-US" sz="950" dirty="0">
                <a:solidFill>
                  <a:srgbClr val="F0F4F8"/>
                </a:solidFill>
              </a:rPr>
              <a:t>All outbound connections from the application subnet flow through nat-gtw → nat-pip</a:t>
            </a:r>
            <a:endParaRPr lang="en-US" sz="950" dirty="0"/>
          </a:p>
          <a:p>
            <a:pPr marL="342900" indent="-342900">
              <a:buSzPct val="100000"/>
              <a:buChar char="•"/>
            </a:pPr>
            <a:r>
              <a:rPr lang="en-US" sz="950" dirty="0">
                <a:solidFill>
                  <a:srgbClr val="F0F4F8"/>
                </a:solidFill>
              </a:rPr>
              <a:t>External services (APIs, SaaS, CDNs) always see traffic from a single, known IP</a:t>
            </a:r>
            <a:endParaRPr lang="en-US" sz="950" dirty="0"/>
          </a:p>
        </p:txBody>
      </p:sp>
      <p:sp>
        <p:nvSpPr>
          <p:cNvPr id="14" name="Shape 12"/>
          <p:cNvSpPr/>
          <p:nvPr/>
        </p:nvSpPr>
        <p:spPr>
          <a:xfrm>
            <a:off x="4709162" y="1711960"/>
            <a:ext cx="4160520" cy="1947672"/>
          </a:xfrm>
          <a:prstGeom prst="rect">
            <a:avLst/>
          </a:prstGeom>
          <a:solidFill>
            <a:srgbClr val="0A2D3A"/>
          </a:solidFill>
          <a:ln/>
          <a:effectLst>
            <a:outerShdw blurRad="101600" dist="38100" dir="8100000" algn="bl" rotWithShape="0">
              <a:srgbClr val="000000">
                <a:alpha val="30000"/>
              </a:srgbClr>
            </a:outerShdw>
          </a:effectLst>
        </p:spPr>
        <p:txBody>
          <a:bodyPr/>
          <a:lstStyle/>
          <a:p>
            <a:endParaRPr lang="en-IN"/>
          </a:p>
        </p:txBody>
      </p:sp>
      <p:sp>
        <p:nvSpPr>
          <p:cNvPr id="15" name="Shape 13"/>
          <p:cNvSpPr/>
          <p:nvPr/>
        </p:nvSpPr>
        <p:spPr>
          <a:xfrm>
            <a:off x="4709162" y="1669626"/>
            <a:ext cx="45720" cy="1947672"/>
          </a:xfrm>
          <a:prstGeom prst="rect">
            <a:avLst/>
          </a:prstGeom>
          <a:solidFill>
            <a:srgbClr val="0078D4"/>
          </a:solidFill>
          <a:ln/>
        </p:spPr>
        <p:txBody>
          <a:bodyPr/>
          <a:lstStyle/>
          <a:p>
            <a:endParaRPr lang="en-IN"/>
          </a:p>
        </p:txBody>
      </p:sp>
      <p:sp>
        <p:nvSpPr>
          <p:cNvPr id="16" name="Text 14"/>
          <p:cNvSpPr/>
          <p:nvPr/>
        </p:nvSpPr>
        <p:spPr>
          <a:xfrm>
            <a:off x="4818890" y="1742778"/>
            <a:ext cx="3977640" cy="256032"/>
          </a:xfrm>
          <a:prstGeom prst="rect">
            <a:avLst/>
          </a:prstGeom>
          <a:noFill/>
          <a:ln/>
        </p:spPr>
        <p:txBody>
          <a:bodyPr wrap="square" lIns="0" tIns="0" rIns="0" bIns="0" rtlCol="0" anchor="ctr"/>
          <a:lstStyle/>
          <a:p>
            <a:pPr marL="0" indent="0">
              <a:buNone/>
            </a:pPr>
            <a:r>
              <a:rPr lang="en-US" sz="1100" b="1" dirty="0">
                <a:solidFill>
                  <a:srgbClr val="00B4D8"/>
                </a:solidFill>
              </a:rPr>
              <a:t>Security Advantage</a:t>
            </a:r>
            <a:endParaRPr lang="en-US" sz="1100" dirty="0"/>
          </a:p>
        </p:txBody>
      </p:sp>
      <p:sp>
        <p:nvSpPr>
          <p:cNvPr id="17" name="Text 15"/>
          <p:cNvSpPr/>
          <p:nvPr/>
        </p:nvSpPr>
        <p:spPr>
          <a:xfrm>
            <a:off x="4864608" y="2376594"/>
            <a:ext cx="3959352" cy="665310"/>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Inbound connections through NAT Gateway are BLOCKED by default — only outbound SNAT</a:t>
            </a:r>
            <a:endParaRPr lang="en-US" sz="950" dirty="0"/>
          </a:p>
          <a:p>
            <a:pPr marL="342900" indent="-342900">
              <a:buSzPct val="100000"/>
              <a:buChar char="•"/>
            </a:pPr>
            <a:r>
              <a:rPr lang="en-US" sz="950" dirty="0">
                <a:solidFill>
                  <a:srgbClr val="F0F4F8"/>
                </a:solidFill>
              </a:rPr>
              <a:t>Cannot be used to reach VMs from internet — App Gateway + ILB are the only inbound paths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Private Endpoint + Azure Cosmos DB</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Private database connectivity with globally distributed NoSQL</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1193801" y="844889"/>
            <a:ext cx="2788920" cy="4023360"/>
          </a:xfrm>
          <a:prstGeom prst="rect">
            <a:avLst/>
          </a:prstGeom>
          <a:solidFill>
            <a:srgbClr val="0A2540"/>
          </a:solidFill>
          <a:ln/>
          <a:effectLst>
            <a:outerShdw blurRad="101600" dist="38100" dir="8100000" algn="bl" rotWithShape="0">
              <a:srgbClr val="000000">
                <a:alpha val="30000"/>
              </a:srgbClr>
            </a:outerShdw>
          </a:effectLst>
        </p:spPr>
        <p:txBody>
          <a:bodyPr/>
          <a:lstStyle/>
          <a:p>
            <a:endParaRPr lang="en-IN"/>
          </a:p>
        </p:txBody>
      </p:sp>
      <p:sp>
        <p:nvSpPr>
          <p:cNvPr id="7" name="Shape 5"/>
          <p:cNvSpPr/>
          <p:nvPr/>
        </p:nvSpPr>
        <p:spPr>
          <a:xfrm>
            <a:off x="1193801" y="844889"/>
            <a:ext cx="45720" cy="4023360"/>
          </a:xfrm>
          <a:prstGeom prst="rect">
            <a:avLst/>
          </a:prstGeom>
          <a:solidFill>
            <a:srgbClr val="0078D4"/>
          </a:solidFill>
          <a:ln/>
        </p:spPr>
        <p:txBody>
          <a:bodyPr/>
          <a:lstStyle/>
          <a:p>
            <a:endParaRPr lang="en-IN"/>
          </a:p>
        </p:txBody>
      </p:sp>
      <p:sp>
        <p:nvSpPr>
          <p:cNvPr id="8" name="Text 6"/>
          <p:cNvSpPr/>
          <p:nvPr/>
        </p:nvSpPr>
        <p:spPr>
          <a:xfrm>
            <a:off x="1303529" y="918041"/>
            <a:ext cx="2606040" cy="256032"/>
          </a:xfrm>
          <a:prstGeom prst="rect">
            <a:avLst/>
          </a:prstGeom>
          <a:noFill/>
          <a:ln/>
        </p:spPr>
        <p:txBody>
          <a:bodyPr wrap="square" lIns="0" tIns="0" rIns="0" bIns="0" rtlCol="0" anchor="ctr"/>
          <a:lstStyle/>
          <a:p>
            <a:pPr marL="0" indent="0">
              <a:buNone/>
            </a:pPr>
            <a:r>
              <a:rPr lang="en-US" sz="1100" b="1" dirty="0">
                <a:solidFill>
                  <a:srgbClr val="00B4D8"/>
                </a:solidFill>
              </a:rPr>
              <a:t>Private Endpoint (Priv-endpoint)</a:t>
            </a:r>
            <a:endParaRPr lang="en-US" sz="1100" dirty="0"/>
          </a:p>
        </p:txBody>
      </p:sp>
      <p:sp>
        <p:nvSpPr>
          <p:cNvPr id="9" name="Text 7"/>
          <p:cNvSpPr/>
          <p:nvPr/>
        </p:nvSpPr>
        <p:spPr>
          <a:xfrm>
            <a:off x="1321817" y="1632458"/>
            <a:ext cx="2587752" cy="2448221"/>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A Private Endpoint creates a Network Interface Card (NIC) inside the application subnet</a:t>
            </a:r>
            <a:endParaRPr lang="en-US" sz="950" dirty="0"/>
          </a:p>
          <a:p>
            <a:pPr marL="342900" indent="-342900">
              <a:buSzPct val="100000"/>
              <a:buChar char="•"/>
            </a:pPr>
            <a:r>
              <a:rPr lang="en-US" sz="950" dirty="0">
                <a:solidFill>
                  <a:srgbClr val="F0F4F8"/>
                </a:solidFill>
              </a:rPr>
              <a:t>This NIC gets a private IP from 10.10.10.0/24 — Cosmos DB gets a private address</a:t>
            </a:r>
            <a:endParaRPr lang="en-US" sz="950" dirty="0"/>
          </a:p>
          <a:p>
            <a:pPr marL="342900" indent="-342900">
              <a:buSzPct val="100000"/>
              <a:buChar char="•"/>
            </a:pPr>
            <a:r>
              <a:rPr lang="en-US" sz="950" dirty="0">
                <a:solidFill>
                  <a:srgbClr val="F0F4F8"/>
                </a:solidFill>
              </a:rPr>
              <a:t>App VMs resolve Cosmos DB hostname → private IP (not public Cosmos endpoint)</a:t>
            </a:r>
            <a:endParaRPr lang="en-US" sz="950" dirty="0"/>
          </a:p>
          <a:p>
            <a:pPr marL="342900" indent="-342900">
              <a:buSzPct val="100000"/>
              <a:buChar char="•"/>
            </a:pPr>
            <a:r>
              <a:rPr lang="en-US" sz="950" dirty="0">
                <a:solidFill>
                  <a:srgbClr val="F0F4F8"/>
                </a:solidFill>
              </a:rPr>
              <a:t>Azure Private DNS Zone: privatelink.documents.azure.com resolves to private IP</a:t>
            </a:r>
            <a:endParaRPr lang="en-US" sz="950" dirty="0"/>
          </a:p>
          <a:p>
            <a:pPr marL="342900" indent="-342900">
              <a:buSzPct val="100000"/>
              <a:buChar char="•"/>
            </a:pPr>
            <a:r>
              <a:rPr lang="en-US" sz="950" dirty="0">
                <a:solidFill>
                  <a:srgbClr val="F0F4F8"/>
                </a:solidFill>
              </a:rPr>
              <a:t>All database traffic stays within the VNet — never leaves Microsoft network</a:t>
            </a:r>
            <a:endParaRPr lang="en-US" sz="950" dirty="0"/>
          </a:p>
          <a:p>
            <a:pPr marL="342900" indent="-342900">
              <a:buSzPct val="100000"/>
              <a:buChar char="•"/>
            </a:pPr>
            <a:r>
              <a:rPr lang="en-US" sz="950" dirty="0">
                <a:solidFill>
                  <a:srgbClr val="F0F4F8"/>
                </a:solidFill>
              </a:rPr>
              <a:t>Cosmos DB public endpoint can be DISABLED entirely after Private Endpoint setup</a:t>
            </a:r>
            <a:endParaRPr lang="en-US" sz="950" dirty="0"/>
          </a:p>
          <a:p>
            <a:pPr marL="342900" indent="-342900">
              <a:buSzPct val="100000"/>
              <a:buChar char="•"/>
            </a:pPr>
            <a:r>
              <a:rPr lang="en-US" sz="950" dirty="0">
                <a:solidFill>
                  <a:srgbClr val="F0F4F8"/>
                </a:solidFill>
              </a:rPr>
              <a:t>Even if Cosmos DB credentials were stolen, attacker cannot reach DB from internet</a:t>
            </a:r>
            <a:endParaRPr lang="en-US" sz="950" dirty="0"/>
          </a:p>
        </p:txBody>
      </p:sp>
      <p:sp>
        <p:nvSpPr>
          <p:cNvPr id="10" name="Shape 8"/>
          <p:cNvSpPr/>
          <p:nvPr/>
        </p:nvSpPr>
        <p:spPr>
          <a:xfrm>
            <a:off x="5176520" y="839046"/>
            <a:ext cx="2788920" cy="4023360"/>
          </a:xfrm>
          <a:prstGeom prst="rect">
            <a:avLst/>
          </a:prstGeom>
          <a:solidFill>
            <a:srgbClr val="0D3060"/>
          </a:solidFill>
          <a:ln/>
          <a:effectLst>
            <a:outerShdw blurRad="101600" dist="38100" dir="8100000" algn="bl" rotWithShape="0">
              <a:srgbClr val="000000">
                <a:alpha val="30000"/>
              </a:srgbClr>
            </a:outerShdw>
          </a:effectLst>
        </p:spPr>
        <p:txBody>
          <a:bodyPr/>
          <a:lstStyle/>
          <a:p>
            <a:endParaRPr lang="en-IN"/>
          </a:p>
        </p:txBody>
      </p:sp>
      <p:sp>
        <p:nvSpPr>
          <p:cNvPr id="11" name="Shape 9"/>
          <p:cNvSpPr/>
          <p:nvPr/>
        </p:nvSpPr>
        <p:spPr>
          <a:xfrm>
            <a:off x="5176520" y="839046"/>
            <a:ext cx="45720" cy="4023360"/>
          </a:xfrm>
          <a:prstGeom prst="rect">
            <a:avLst/>
          </a:prstGeom>
          <a:solidFill>
            <a:srgbClr val="0078D4"/>
          </a:solidFill>
          <a:ln/>
        </p:spPr>
        <p:txBody>
          <a:bodyPr/>
          <a:lstStyle/>
          <a:p>
            <a:endParaRPr lang="en-IN"/>
          </a:p>
        </p:txBody>
      </p:sp>
      <p:sp>
        <p:nvSpPr>
          <p:cNvPr id="12" name="Text 10"/>
          <p:cNvSpPr/>
          <p:nvPr/>
        </p:nvSpPr>
        <p:spPr>
          <a:xfrm>
            <a:off x="5286248" y="912198"/>
            <a:ext cx="2606040" cy="256032"/>
          </a:xfrm>
          <a:prstGeom prst="rect">
            <a:avLst/>
          </a:prstGeom>
          <a:noFill/>
          <a:ln/>
        </p:spPr>
        <p:txBody>
          <a:bodyPr wrap="square" lIns="0" tIns="0" rIns="0" bIns="0" rtlCol="0" anchor="ctr"/>
          <a:lstStyle/>
          <a:p>
            <a:pPr marL="0" indent="0">
              <a:buNone/>
            </a:pPr>
            <a:r>
              <a:rPr lang="en-US" sz="1100" b="1" dirty="0">
                <a:solidFill>
                  <a:srgbClr val="00B4D8"/>
                </a:solidFill>
              </a:rPr>
              <a:t>Azure Cosmos DB (Cos-DB)</a:t>
            </a:r>
            <a:endParaRPr lang="en-US" sz="1100" dirty="0"/>
          </a:p>
        </p:txBody>
      </p:sp>
      <p:sp>
        <p:nvSpPr>
          <p:cNvPr id="13" name="Text 11"/>
          <p:cNvSpPr/>
          <p:nvPr/>
        </p:nvSpPr>
        <p:spPr>
          <a:xfrm>
            <a:off x="5341112" y="2295481"/>
            <a:ext cx="2587752" cy="955719"/>
          </a:xfrm>
          <a:prstGeom prst="rect">
            <a:avLst/>
          </a:prstGeom>
          <a:noFill/>
          <a:ln/>
        </p:spPr>
        <p:txBody>
          <a:bodyPr wrap="square" lIns="0" tIns="0" rIns="0" bIns="0" rtlCol="0" anchor="t"/>
          <a:lstStyle/>
          <a:p>
            <a:pPr marL="342900" indent="-342900">
              <a:buSzPct val="100000"/>
              <a:buChar char="•"/>
            </a:pPr>
            <a:r>
              <a:rPr lang="en-US" sz="950" dirty="0">
                <a:solidFill>
                  <a:srgbClr val="F0F4F8"/>
                </a:solidFill>
              </a:rPr>
              <a:t>Multi-model NoSQL database: SQL API, Mongo API, Cassandra API, Gremlin API</a:t>
            </a:r>
            <a:endParaRPr lang="en-US" sz="950" dirty="0"/>
          </a:p>
          <a:p>
            <a:pPr marL="342900" indent="-342900">
              <a:buSzPct val="100000"/>
              <a:buChar char="•"/>
            </a:pPr>
            <a:r>
              <a:rPr lang="en-US" sz="950" dirty="0">
                <a:solidFill>
                  <a:srgbClr val="F0F4F8"/>
                </a:solidFill>
              </a:rPr>
              <a:t>Globally distributed: replicate data to any Azure region with one click</a:t>
            </a:r>
            <a:endParaRPr lang="en-US" sz="950" dirty="0"/>
          </a:p>
          <a:p>
            <a:pPr marL="342900" indent="-342900">
              <a:buSzPct val="100000"/>
              <a:buChar char="•"/>
            </a:pPr>
            <a:r>
              <a:rPr lang="en-US" sz="950" dirty="0">
                <a:solidFill>
                  <a:srgbClr val="F0F4F8"/>
                </a:solidFill>
              </a:rPr>
              <a:t>Automatic indexing — no index management required</a:t>
            </a:r>
            <a:endParaRPr lang="en-US" sz="950" dirty="0"/>
          </a:p>
        </p:txBody>
      </p:sp>
      <p:sp>
        <p:nvSpPr>
          <p:cNvPr id="15" name="Shape 13"/>
          <p:cNvSpPr/>
          <p:nvPr/>
        </p:nvSpPr>
        <p:spPr>
          <a:xfrm>
            <a:off x="7965440" y="839046"/>
            <a:ext cx="45720" cy="4023360"/>
          </a:xfrm>
          <a:prstGeom prst="rect">
            <a:avLst/>
          </a:prstGeom>
          <a:solidFill>
            <a:srgbClr val="0078D4"/>
          </a:solidFill>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8D4"/>
          </a:solidFill>
          <a:ln/>
        </p:spPr>
        <p:txBody>
          <a:bodyPr/>
          <a:lstStyle/>
          <a:p>
            <a:endParaRPr lang="en-IN"/>
          </a:p>
        </p:txBody>
      </p:sp>
      <p:sp>
        <p:nvSpPr>
          <p:cNvPr id="3" name="Text 1"/>
          <p:cNvSpPr/>
          <p:nvPr/>
        </p:nvSpPr>
        <p:spPr>
          <a:xfrm>
            <a:off x="320040" y="0"/>
            <a:ext cx="7315200" cy="658368"/>
          </a:xfrm>
          <a:prstGeom prst="rect">
            <a:avLst/>
          </a:prstGeom>
          <a:noFill/>
          <a:ln/>
        </p:spPr>
        <p:txBody>
          <a:bodyPr wrap="square" lIns="0" tIns="0" rIns="0" bIns="0" rtlCol="0" anchor="ctr"/>
          <a:lstStyle/>
          <a:p>
            <a:pPr marL="0" indent="0">
              <a:buNone/>
            </a:pPr>
            <a:r>
              <a:rPr lang="en-US" sz="2000" b="1" dirty="0">
                <a:solidFill>
                  <a:srgbClr val="FFFFFF"/>
                </a:solidFill>
              </a:rPr>
              <a:t>Security Architecture</a:t>
            </a:r>
            <a:endParaRPr lang="en-US" sz="2000" dirty="0"/>
          </a:p>
        </p:txBody>
      </p:sp>
      <p:sp>
        <p:nvSpPr>
          <p:cNvPr id="4" name="Text 2"/>
          <p:cNvSpPr/>
          <p:nvPr/>
        </p:nvSpPr>
        <p:spPr>
          <a:xfrm>
            <a:off x="320040" y="411480"/>
            <a:ext cx="7315200" cy="274320"/>
          </a:xfrm>
          <a:prstGeom prst="rect">
            <a:avLst/>
          </a:prstGeom>
          <a:noFill/>
          <a:ln/>
        </p:spPr>
        <p:txBody>
          <a:bodyPr wrap="square" lIns="0" tIns="0" rIns="0" bIns="0" rtlCol="0" anchor="ctr"/>
          <a:lstStyle/>
          <a:p>
            <a:pPr marL="0" indent="0">
              <a:buNone/>
            </a:pPr>
            <a:r>
              <a:rPr lang="en-US" sz="1000" dirty="0">
                <a:solidFill>
                  <a:srgbClr val="BFE3FF"/>
                </a:solidFill>
              </a:rPr>
              <a:t>Defense-in-depth: 5 layers of protection</a:t>
            </a:r>
            <a:endParaRPr lang="en-US" sz="1000" dirty="0"/>
          </a:p>
        </p:txBody>
      </p:sp>
      <p:sp>
        <p:nvSpPr>
          <p:cNvPr id="5" name="Shape 3"/>
          <p:cNvSpPr/>
          <p:nvPr/>
        </p:nvSpPr>
        <p:spPr>
          <a:xfrm>
            <a:off x="8503920" y="0"/>
            <a:ext cx="640080" cy="658368"/>
          </a:xfrm>
          <a:prstGeom prst="rect">
            <a:avLst/>
          </a:prstGeom>
          <a:solidFill>
            <a:srgbClr val="003366"/>
          </a:solidFill>
          <a:ln/>
        </p:spPr>
        <p:txBody>
          <a:bodyPr/>
          <a:lstStyle/>
          <a:p>
            <a:endParaRPr lang="en-IN"/>
          </a:p>
        </p:txBody>
      </p:sp>
      <p:sp>
        <p:nvSpPr>
          <p:cNvPr id="6" name="Shape 4"/>
          <p:cNvSpPr/>
          <p:nvPr/>
        </p:nvSpPr>
        <p:spPr>
          <a:xfrm>
            <a:off x="274320" y="804672"/>
            <a:ext cx="502920" cy="640080"/>
          </a:xfrm>
          <a:prstGeom prst="rect">
            <a:avLst/>
          </a:prstGeom>
          <a:solidFill>
            <a:srgbClr val="E53E3E"/>
          </a:solidFill>
          <a:ln/>
        </p:spPr>
        <p:txBody>
          <a:bodyPr/>
          <a:lstStyle/>
          <a:p>
            <a:endParaRPr lang="en-IN"/>
          </a:p>
        </p:txBody>
      </p:sp>
      <p:sp>
        <p:nvSpPr>
          <p:cNvPr id="7" name="Text 5"/>
          <p:cNvSpPr/>
          <p:nvPr/>
        </p:nvSpPr>
        <p:spPr>
          <a:xfrm>
            <a:off x="274320" y="804672"/>
            <a:ext cx="502920" cy="64008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8" name="Shape 6"/>
          <p:cNvSpPr/>
          <p:nvPr/>
        </p:nvSpPr>
        <p:spPr>
          <a:xfrm>
            <a:off x="868680" y="804672"/>
            <a:ext cx="8275320" cy="640080"/>
          </a:xfrm>
          <a:prstGeom prst="rect">
            <a:avLst/>
          </a:prstGeom>
          <a:solidFill>
            <a:srgbClr val="0A2540"/>
          </a:solidFill>
          <a:ln/>
        </p:spPr>
        <p:txBody>
          <a:bodyPr/>
          <a:lstStyle/>
          <a:p>
            <a:endParaRPr lang="en-IN"/>
          </a:p>
        </p:txBody>
      </p:sp>
      <p:sp>
        <p:nvSpPr>
          <p:cNvPr id="9" name="Text 7"/>
          <p:cNvSpPr/>
          <p:nvPr/>
        </p:nvSpPr>
        <p:spPr>
          <a:xfrm>
            <a:off x="1005840" y="859536"/>
            <a:ext cx="7955280" cy="256032"/>
          </a:xfrm>
          <a:prstGeom prst="rect">
            <a:avLst/>
          </a:prstGeom>
          <a:noFill/>
          <a:ln/>
        </p:spPr>
        <p:txBody>
          <a:bodyPr wrap="square" lIns="0" tIns="0" rIns="0" bIns="0" rtlCol="0" anchor="ctr"/>
          <a:lstStyle/>
          <a:p>
            <a:pPr marL="0" indent="0">
              <a:buNone/>
            </a:pPr>
            <a:r>
              <a:rPr lang="en-US" sz="1100" b="1" dirty="0">
                <a:solidFill>
                  <a:srgbClr val="E53E3E"/>
                </a:solidFill>
              </a:rPr>
              <a:t>WAF — L7 Attack Prevention</a:t>
            </a:r>
            <a:endParaRPr lang="en-US" sz="1100" dirty="0"/>
          </a:p>
        </p:txBody>
      </p:sp>
      <p:sp>
        <p:nvSpPr>
          <p:cNvPr id="10" name="Text 8"/>
          <p:cNvSpPr/>
          <p:nvPr/>
        </p:nvSpPr>
        <p:spPr>
          <a:xfrm>
            <a:off x="1005840" y="1115568"/>
            <a:ext cx="7955280" cy="274320"/>
          </a:xfrm>
          <a:prstGeom prst="rect">
            <a:avLst/>
          </a:prstGeom>
          <a:noFill/>
          <a:ln/>
        </p:spPr>
        <p:txBody>
          <a:bodyPr wrap="square" lIns="0" tIns="0" rIns="0" bIns="0" rtlCol="0" anchor="ctr"/>
          <a:lstStyle/>
          <a:p>
            <a:pPr marL="0" indent="0">
              <a:buNone/>
            </a:pPr>
            <a:r>
              <a:rPr lang="en-US" sz="950" dirty="0">
                <a:solidFill>
                  <a:srgbClr val="F0F4F8"/>
                </a:solidFill>
              </a:rPr>
              <a:t>OWASP rules block SQLi, XSS, CSRF before traffic reaches any compute resource. First line of defense.</a:t>
            </a:r>
            <a:endParaRPr lang="en-US" sz="950" dirty="0"/>
          </a:p>
        </p:txBody>
      </p:sp>
      <p:sp>
        <p:nvSpPr>
          <p:cNvPr id="11" name="Shape 9"/>
          <p:cNvSpPr/>
          <p:nvPr/>
        </p:nvSpPr>
        <p:spPr>
          <a:xfrm>
            <a:off x="274320" y="1609344"/>
            <a:ext cx="502920" cy="640080"/>
          </a:xfrm>
          <a:prstGeom prst="rect">
            <a:avLst/>
          </a:prstGeom>
          <a:solidFill>
            <a:srgbClr val="F6A623"/>
          </a:solidFill>
          <a:ln/>
        </p:spPr>
        <p:txBody>
          <a:bodyPr/>
          <a:lstStyle/>
          <a:p>
            <a:endParaRPr lang="en-IN"/>
          </a:p>
        </p:txBody>
      </p:sp>
      <p:sp>
        <p:nvSpPr>
          <p:cNvPr id="12" name="Text 10"/>
          <p:cNvSpPr/>
          <p:nvPr/>
        </p:nvSpPr>
        <p:spPr>
          <a:xfrm>
            <a:off x="274320" y="1609344"/>
            <a:ext cx="502920" cy="64008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3" name="Shape 11"/>
          <p:cNvSpPr/>
          <p:nvPr/>
        </p:nvSpPr>
        <p:spPr>
          <a:xfrm>
            <a:off x="868680" y="1609344"/>
            <a:ext cx="8275320" cy="640080"/>
          </a:xfrm>
          <a:prstGeom prst="rect">
            <a:avLst/>
          </a:prstGeom>
          <a:solidFill>
            <a:srgbClr val="0A2540"/>
          </a:solidFill>
          <a:ln/>
        </p:spPr>
        <p:txBody>
          <a:bodyPr/>
          <a:lstStyle/>
          <a:p>
            <a:endParaRPr lang="en-IN"/>
          </a:p>
        </p:txBody>
      </p:sp>
      <p:sp>
        <p:nvSpPr>
          <p:cNvPr id="14" name="Text 12"/>
          <p:cNvSpPr/>
          <p:nvPr/>
        </p:nvSpPr>
        <p:spPr>
          <a:xfrm>
            <a:off x="1005840" y="1664208"/>
            <a:ext cx="7955280" cy="256032"/>
          </a:xfrm>
          <a:prstGeom prst="rect">
            <a:avLst/>
          </a:prstGeom>
          <a:noFill/>
          <a:ln/>
        </p:spPr>
        <p:txBody>
          <a:bodyPr wrap="square" lIns="0" tIns="0" rIns="0" bIns="0" rtlCol="0" anchor="ctr"/>
          <a:lstStyle/>
          <a:p>
            <a:pPr marL="0" indent="0">
              <a:buNone/>
            </a:pPr>
            <a:r>
              <a:rPr lang="en-US" sz="1100" b="1" dirty="0">
                <a:solidFill>
                  <a:srgbClr val="F6A623"/>
                </a:solidFill>
              </a:rPr>
              <a:t>App Gateway — Ingress Control</a:t>
            </a:r>
            <a:endParaRPr lang="en-US" sz="1100" dirty="0"/>
          </a:p>
        </p:txBody>
      </p:sp>
      <p:sp>
        <p:nvSpPr>
          <p:cNvPr id="15" name="Text 13"/>
          <p:cNvSpPr/>
          <p:nvPr/>
        </p:nvSpPr>
        <p:spPr>
          <a:xfrm>
            <a:off x="1005840" y="1920240"/>
            <a:ext cx="7955280" cy="274320"/>
          </a:xfrm>
          <a:prstGeom prst="rect">
            <a:avLst/>
          </a:prstGeom>
          <a:noFill/>
          <a:ln/>
        </p:spPr>
        <p:txBody>
          <a:bodyPr wrap="square" lIns="0" tIns="0" rIns="0" bIns="0" rtlCol="0" anchor="ctr"/>
          <a:lstStyle/>
          <a:p>
            <a:pPr marL="0" indent="0">
              <a:buNone/>
            </a:pPr>
            <a:r>
              <a:rPr lang="en-US" sz="950" dirty="0">
                <a:solidFill>
                  <a:srgbClr val="F0F4F8"/>
                </a:solidFill>
              </a:rPr>
              <a:t>Single, hardened ingress point. SSL termination, path routing, health probing. Backend VMs invisible to internet.</a:t>
            </a:r>
            <a:endParaRPr lang="en-US" sz="950" dirty="0"/>
          </a:p>
        </p:txBody>
      </p:sp>
      <p:sp>
        <p:nvSpPr>
          <p:cNvPr id="16" name="Shape 14"/>
          <p:cNvSpPr/>
          <p:nvPr/>
        </p:nvSpPr>
        <p:spPr>
          <a:xfrm>
            <a:off x="274320" y="2414016"/>
            <a:ext cx="502920" cy="640080"/>
          </a:xfrm>
          <a:prstGeom prst="rect">
            <a:avLst/>
          </a:prstGeom>
          <a:solidFill>
            <a:srgbClr val="0078D4"/>
          </a:solidFill>
          <a:ln/>
        </p:spPr>
        <p:txBody>
          <a:bodyPr/>
          <a:lstStyle/>
          <a:p>
            <a:endParaRPr lang="en-IN"/>
          </a:p>
        </p:txBody>
      </p:sp>
      <p:sp>
        <p:nvSpPr>
          <p:cNvPr id="17" name="Text 15"/>
          <p:cNvSpPr/>
          <p:nvPr/>
        </p:nvSpPr>
        <p:spPr>
          <a:xfrm>
            <a:off x="274320" y="2414016"/>
            <a:ext cx="502920" cy="64008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8" name="Shape 16"/>
          <p:cNvSpPr/>
          <p:nvPr/>
        </p:nvSpPr>
        <p:spPr>
          <a:xfrm>
            <a:off x="868680" y="2414016"/>
            <a:ext cx="8275320" cy="640080"/>
          </a:xfrm>
          <a:prstGeom prst="rect">
            <a:avLst/>
          </a:prstGeom>
          <a:solidFill>
            <a:srgbClr val="0A2540"/>
          </a:solidFill>
          <a:ln/>
        </p:spPr>
        <p:txBody>
          <a:bodyPr/>
          <a:lstStyle/>
          <a:p>
            <a:endParaRPr lang="en-IN"/>
          </a:p>
        </p:txBody>
      </p:sp>
      <p:sp>
        <p:nvSpPr>
          <p:cNvPr id="19" name="Text 17"/>
          <p:cNvSpPr/>
          <p:nvPr/>
        </p:nvSpPr>
        <p:spPr>
          <a:xfrm>
            <a:off x="1005840" y="2468880"/>
            <a:ext cx="7955280" cy="256032"/>
          </a:xfrm>
          <a:prstGeom prst="rect">
            <a:avLst/>
          </a:prstGeom>
          <a:noFill/>
          <a:ln/>
        </p:spPr>
        <p:txBody>
          <a:bodyPr wrap="square" lIns="0" tIns="0" rIns="0" bIns="0" rtlCol="0" anchor="ctr"/>
          <a:lstStyle/>
          <a:p>
            <a:pPr marL="0" indent="0">
              <a:buNone/>
            </a:pPr>
            <a:r>
              <a:rPr lang="en-US" sz="1100" b="1" dirty="0">
                <a:solidFill>
                  <a:srgbClr val="0078D4"/>
                </a:solidFill>
              </a:rPr>
              <a:t>NSG — Subnet Micro-Segmentation</a:t>
            </a:r>
            <a:endParaRPr lang="en-US" sz="1100" dirty="0"/>
          </a:p>
        </p:txBody>
      </p:sp>
      <p:sp>
        <p:nvSpPr>
          <p:cNvPr id="20" name="Text 18"/>
          <p:cNvSpPr/>
          <p:nvPr/>
        </p:nvSpPr>
        <p:spPr>
          <a:xfrm>
            <a:off x="1005840" y="2724912"/>
            <a:ext cx="7955280" cy="274320"/>
          </a:xfrm>
          <a:prstGeom prst="rect">
            <a:avLst/>
          </a:prstGeom>
          <a:noFill/>
          <a:ln/>
        </p:spPr>
        <p:txBody>
          <a:bodyPr wrap="square" lIns="0" tIns="0" rIns="0" bIns="0" rtlCol="0" anchor="ctr"/>
          <a:lstStyle/>
          <a:p>
            <a:pPr marL="0" indent="0">
              <a:buNone/>
            </a:pPr>
            <a:r>
              <a:rPr lang="en-US" sz="950" dirty="0">
                <a:solidFill>
                  <a:srgbClr val="F0F4F8"/>
                </a:solidFill>
              </a:rPr>
              <a:t>Default-deny L4 firewall. Only whitelisted IPs and ports can communicate between subnets.</a:t>
            </a:r>
            <a:endParaRPr lang="en-US" sz="950" dirty="0"/>
          </a:p>
        </p:txBody>
      </p:sp>
      <p:sp>
        <p:nvSpPr>
          <p:cNvPr id="21" name="Shape 19"/>
          <p:cNvSpPr/>
          <p:nvPr/>
        </p:nvSpPr>
        <p:spPr>
          <a:xfrm>
            <a:off x="274320" y="3218688"/>
            <a:ext cx="502920" cy="640080"/>
          </a:xfrm>
          <a:prstGeom prst="rect">
            <a:avLst/>
          </a:prstGeom>
          <a:solidFill>
            <a:srgbClr val="805AD5"/>
          </a:solidFill>
          <a:ln/>
        </p:spPr>
        <p:txBody>
          <a:bodyPr/>
          <a:lstStyle/>
          <a:p>
            <a:endParaRPr lang="en-IN"/>
          </a:p>
        </p:txBody>
      </p:sp>
      <p:sp>
        <p:nvSpPr>
          <p:cNvPr id="22" name="Text 20"/>
          <p:cNvSpPr/>
          <p:nvPr/>
        </p:nvSpPr>
        <p:spPr>
          <a:xfrm>
            <a:off x="274320" y="3218688"/>
            <a:ext cx="502920" cy="640080"/>
          </a:xfrm>
          <a:prstGeom prst="rect">
            <a:avLst/>
          </a:prstGeom>
          <a:noFill/>
          <a:ln/>
        </p:spPr>
        <p:txBody>
          <a:bodyPr wrap="square" lIns="0" tIns="0" rIns="0" bIns="0" rtlCol="0" anchor="ctr"/>
          <a:lstStyle/>
          <a:p>
            <a:pPr marL="0" indent="0" algn="ctr">
              <a:buNone/>
            </a:pPr>
            <a:r>
              <a:rPr lang="en-US" sz="2000" b="1" dirty="0">
                <a:solidFill>
                  <a:srgbClr val="FFFFFF"/>
                </a:solidFill>
              </a:rPr>
              <a:t>4</a:t>
            </a:r>
            <a:endParaRPr lang="en-US" sz="2000" dirty="0"/>
          </a:p>
        </p:txBody>
      </p:sp>
      <p:sp>
        <p:nvSpPr>
          <p:cNvPr id="23" name="Shape 21"/>
          <p:cNvSpPr/>
          <p:nvPr/>
        </p:nvSpPr>
        <p:spPr>
          <a:xfrm>
            <a:off x="868680" y="3218688"/>
            <a:ext cx="8275320" cy="640080"/>
          </a:xfrm>
          <a:prstGeom prst="rect">
            <a:avLst/>
          </a:prstGeom>
          <a:solidFill>
            <a:srgbClr val="0A2540"/>
          </a:solidFill>
          <a:ln/>
        </p:spPr>
        <p:txBody>
          <a:bodyPr/>
          <a:lstStyle/>
          <a:p>
            <a:endParaRPr lang="en-IN"/>
          </a:p>
        </p:txBody>
      </p:sp>
      <p:sp>
        <p:nvSpPr>
          <p:cNvPr id="24" name="Text 22"/>
          <p:cNvSpPr/>
          <p:nvPr/>
        </p:nvSpPr>
        <p:spPr>
          <a:xfrm>
            <a:off x="1005840" y="3273552"/>
            <a:ext cx="7955280" cy="256032"/>
          </a:xfrm>
          <a:prstGeom prst="rect">
            <a:avLst/>
          </a:prstGeom>
          <a:noFill/>
          <a:ln/>
        </p:spPr>
        <p:txBody>
          <a:bodyPr wrap="square" lIns="0" tIns="0" rIns="0" bIns="0" rtlCol="0" anchor="ctr"/>
          <a:lstStyle/>
          <a:p>
            <a:pPr marL="0" indent="0">
              <a:buNone/>
            </a:pPr>
            <a:r>
              <a:rPr lang="en-US" sz="1100" b="1" dirty="0">
                <a:solidFill>
                  <a:srgbClr val="805AD5"/>
                </a:solidFill>
              </a:rPr>
              <a:t>Bastion — Zero-Trust Management</a:t>
            </a:r>
            <a:endParaRPr lang="en-US" sz="1100" dirty="0"/>
          </a:p>
        </p:txBody>
      </p:sp>
      <p:sp>
        <p:nvSpPr>
          <p:cNvPr id="25" name="Text 23"/>
          <p:cNvSpPr/>
          <p:nvPr/>
        </p:nvSpPr>
        <p:spPr>
          <a:xfrm>
            <a:off x="1005840" y="3529584"/>
            <a:ext cx="7955280" cy="274320"/>
          </a:xfrm>
          <a:prstGeom prst="rect">
            <a:avLst/>
          </a:prstGeom>
          <a:noFill/>
          <a:ln/>
        </p:spPr>
        <p:txBody>
          <a:bodyPr wrap="square" lIns="0" tIns="0" rIns="0" bIns="0" rtlCol="0" anchor="ctr"/>
          <a:lstStyle/>
          <a:p>
            <a:pPr marL="0" indent="0">
              <a:buNone/>
            </a:pPr>
            <a:r>
              <a:rPr lang="en-US" sz="950" dirty="0">
                <a:solidFill>
                  <a:srgbClr val="F0F4F8"/>
                </a:solidFill>
              </a:rPr>
              <a:t>No public IPs on any VM. Admin access exclusively via Azure AD-authenticated browser sessions.</a:t>
            </a:r>
            <a:endParaRPr lang="en-US" sz="950" dirty="0"/>
          </a:p>
        </p:txBody>
      </p:sp>
      <p:sp>
        <p:nvSpPr>
          <p:cNvPr id="26" name="Shape 24"/>
          <p:cNvSpPr/>
          <p:nvPr/>
        </p:nvSpPr>
        <p:spPr>
          <a:xfrm>
            <a:off x="274320" y="4023360"/>
            <a:ext cx="502920" cy="640080"/>
          </a:xfrm>
          <a:prstGeom prst="rect">
            <a:avLst/>
          </a:prstGeom>
          <a:solidFill>
            <a:srgbClr val="38A169"/>
          </a:solidFill>
          <a:ln/>
        </p:spPr>
        <p:txBody>
          <a:bodyPr/>
          <a:lstStyle/>
          <a:p>
            <a:endParaRPr lang="en-IN"/>
          </a:p>
        </p:txBody>
      </p:sp>
      <p:sp>
        <p:nvSpPr>
          <p:cNvPr id="27" name="Text 25"/>
          <p:cNvSpPr/>
          <p:nvPr/>
        </p:nvSpPr>
        <p:spPr>
          <a:xfrm>
            <a:off x="274320" y="4023360"/>
            <a:ext cx="502920" cy="640080"/>
          </a:xfrm>
          <a:prstGeom prst="rect">
            <a:avLst/>
          </a:prstGeom>
          <a:noFill/>
          <a:ln/>
        </p:spPr>
        <p:txBody>
          <a:bodyPr wrap="square" lIns="0" tIns="0" rIns="0" bIns="0" rtlCol="0" anchor="ctr"/>
          <a:lstStyle/>
          <a:p>
            <a:pPr marL="0" indent="0" algn="ctr">
              <a:buNone/>
            </a:pPr>
            <a:r>
              <a:rPr lang="en-US" sz="2000" b="1" dirty="0">
                <a:solidFill>
                  <a:srgbClr val="FFFFFF"/>
                </a:solidFill>
              </a:rPr>
              <a:t>5</a:t>
            </a:r>
            <a:endParaRPr lang="en-US" sz="2000" dirty="0"/>
          </a:p>
        </p:txBody>
      </p:sp>
      <p:sp>
        <p:nvSpPr>
          <p:cNvPr id="28" name="Shape 26"/>
          <p:cNvSpPr/>
          <p:nvPr/>
        </p:nvSpPr>
        <p:spPr>
          <a:xfrm>
            <a:off x="868680" y="4023360"/>
            <a:ext cx="8275320" cy="640080"/>
          </a:xfrm>
          <a:prstGeom prst="rect">
            <a:avLst/>
          </a:prstGeom>
          <a:solidFill>
            <a:srgbClr val="0A2540"/>
          </a:solidFill>
          <a:ln/>
        </p:spPr>
        <p:txBody>
          <a:bodyPr/>
          <a:lstStyle/>
          <a:p>
            <a:endParaRPr lang="en-IN"/>
          </a:p>
        </p:txBody>
      </p:sp>
      <p:sp>
        <p:nvSpPr>
          <p:cNvPr id="29" name="Text 27"/>
          <p:cNvSpPr/>
          <p:nvPr/>
        </p:nvSpPr>
        <p:spPr>
          <a:xfrm>
            <a:off x="1005840" y="4078224"/>
            <a:ext cx="7955280" cy="256032"/>
          </a:xfrm>
          <a:prstGeom prst="rect">
            <a:avLst/>
          </a:prstGeom>
          <a:noFill/>
          <a:ln/>
        </p:spPr>
        <p:txBody>
          <a:bodyPr wrap="square" lIns="0" tIns="0" rIns="0" bIns="0" rtlCol="0" anchor="ctr"/>
          <a:lstStyle/>
          <a:p>
            <a:pPr marL="0" indent="0">
              <a:buNone/>
            </a:pPr>
            <a:r>
              <a:rPr lang="en-US" sz="1100" b="1" dirty="0">
                <a:solidFill>
                  <a:srgbClr val="38A169"/>
                </a:solidFill>
              </a:rPr>
              <a:t>Private Endpoint — Data Isolation</a:t>
            </a:r>
            <a:endParaRPr lang="en-US" sz="1100" dirty="0"/>
          </a:p>
        </p:txBody>
      </p:sp>
      <p:sp>
        <p:nvSpPr>
          <p:cNvPr id="30" name="Text 28"/>
          <p:cNvSpPr/>
          <p:nvPr/>
        </p:nvSpPr>
        <p:spPr>
          <a:xfrm>
            <a:off x="1005840" y="4334256"/>
            <a:ext cx="7955280" cy="274320"/>
          </a:xfrm>
          <a:prstGeom prst="rect">
            <a:avLst/>
          </a:prstGeom>
          <a:noFill/>
          <a:ln/>
        </p:spPr>
        <p:txBody>
          <a:bodyPr wrap="square" lIns="0" tIns="0" rIns="0" bIns="0" rtlCol="0" anchor="ctr"/>
          <a:lstStyle/>
          <a:p>
            <a:pPr marL="0" indent="0">
              <a:buNone/>
            </a:pPr>
            <a:r>
              <a:rPr lang="en-US" sz="950" dirty="0">
                <a:solidFill>
                  <a:srgbClr val="F0F4F8"/>
                </a:solidFill>
              </a:rPr>
              <a:t>Cosmos DB unreachable from public internet. All DB traffic on private Microsoft network.</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bg>
      <p:bgPr>
        <a:solidFill>
          <a:srgbClr val="001F3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78D4"/>
          </a:solidFill>
          <a:ln/>
        </p:spPr>
        <p:txBody>
          <a:bodyPr/>
          <a:lstStyle/>
          <a:p>
            <a:endParaRPr lang="en-IN"/>
          </a:p>
        </p:txBody>
      </p:sp>
      <p:sp>
        <p:nvSpPr>
          <p:cNvPr id="3" name="Shape 1"/>
          <p:cNvSpPr/>
          <p:nvPr/>
        </p:nvSpPr>
        <p:spPr>
          <a:xfrm>
            <a:off x="0" y="5033772"/>
            <a:ext cx="9144000" cy="109728"/>
          </a:xfrm>
          <a:prstGeom prst="rect">
            <a:avLst/>
          </a:prstGeom>
          <a:solidFill>
            <a:srgbClr val="0078D4"/>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lIns="0" tIns="0" rIns="0" bIns="0" rtlCol="0" anchor="ctr"/>
          <a:lstStyle/>
          <a:p>
            <a:pPr marL="0" indent="0" algn="ctr">
              <a:buNone/>
            </a:pPr>
            <a:r>
              <a:rPr lang="en-US" sz="2200" b="1" dirty="0">
                <a:solidFill>
                  <a:srgbClr val="FFFFFF"/>
                </a:solidFill>
              </a:rPr>
              <a:t>Architecture Summary</a:t>
            </a:r>
            <a:endParaRPr lang="en-US" sz="2200" dirty="0"/>
          </a:p>
        </p:txBody>
      </p:sp>
      <p:sp>
        <p:nvSpPr>
          <p:cNvPr id="5" name="Text 3"/>
          <p:cNvSpPr/>
          <p:nvPr/>
        </p:nvSpPr>
        <p:spPr>
          <a:xfrm>
            <a:off x="457200" y="658368"/>
            <a:ext cx="8229600" cy="320040"/>
          </a:xfrm>
          <a:prstGeom prst="rect">
            <a:avLst/>
          </a:prstGeom>
          <a:noFill/>
          <a:ln/>
        </p:spPr>
        <p:txBody>
          <a:bodyPr wrap="square" lIns="0" tIns="0" rIns="0" bIns="0" rtlCol="0" anchor="ctr"/>
          <a:lstStyle/>
          <a:p>
            <a:pPr marL="0" indent="0" algn="ctr">
              <a:buNone/>
            </a:pPr>
            <a:r>
              <a:rPr lang="en-US" sz="1300" dirty="0">
                <a:solidFill>
                  <a:srgbClr val="00B4D8"/>
                </a:solidFill>
              </a:rPr>
              <a:t>Azure Multi-Region Secure Cloud Infrastructure</a:t>
            </a:r>
            <a:endParaRPr lang="en-US" sz="1300" dirty="0"/>
          </a:p>
        </p:txBody>
      </p:sp>
      <p:sp>
        <p:nvSpPr>
          <p:cNvPr id="6" name="Shape 4"/>
          <p:cNvSpPr/>
          <p:nvPr/>
        </p:nvSpPr>
        <p:spPr>
          <a:xfrm>
            <a:off x="274320" y="1143000"/>
            <a:ext cx="2029968" cy="1005840"/>
          </a:xfrm>
          <a:prstGeom prst="rect">
            <a:avLst/>
          </a:prstGeom>
          <a:solidFill>
            <a:srgbClr val="E53E3E"/>
          </a:solidFill>
          <a:ln/>
        </p:spPr>
        <p:txBody>
          <a:bodyPr/>
          <a:lstStyle/>
          <a:p>
            <a:endParaRPr lang="en-IN"/>
          </a:p>
        </p:txBody>
      </p:sp>
      <p:sp>
        <p:nvSpPr>
          <p:cNvPr id="7" name="Text 5"/>
          <p:cNvSpPr/>
          <p:nvPr/>
        </p:nvSpPr>
        <p:spPr>
          <a:xfrm>
            <a:off x="274320" y="1143000"/>
            <a:ext cx="2029968" cy="411480"/>
          </a:xfrm>
          <a:prstGeom prst="rect">
            <a:avLst/>
          </a:prstGeom>
          <a:noFill/>
          <a:ln/>
        </p:spPr>
        <p:txBody>
          <a:bodyPr wrap="square" lIns="0" tIns="0" rIns="0" bIns="0" rtlCol="0" anchor="ctr"/>
          <a:lstStyle/>
          <a:p>
            <a:pPr marL="0" indent="0" algn="ctr">
              <a:buNone/>
            </a:pPr>
            <a:r>
              <a:rPr lang="en-US" sz="1400" b="1" dirty="0">
                <a:solidFill>
                  <a:srgbClr val="FFFFFF"/>
                </a:solidFill>
              </a:rPr>
              <a:t>Secure</a:t>
            </a:r>
            <a:endParaRPr lang="en-US" sz="1400" dirty="0"/>
          </a:p>
        </p:txBody>
      </p:sp>
      <p:sp>
        <p:nvSpPr>
          <p:cNvPr id="8" name="Shape 6"/>
          <p:cNvSpPr/>
          <p:nvPr/>
        </p:nvSpPr>
        <p:spPr>
          <a:xfrm>
            <a:off x="274320" y="2148840"/>
            <a:ext cx="2029968" cy="1097280"/>
          </a:xfrm>
          <a:prstGeom prst="rect">
            <a:avLst/>
          </a:prstGeom>
          <a:solidFill>
            <a:srgbClr val="0A2540"/>
          </a:solidFill>
          <a:ln/>
        </p:spPr>
        <p:txBody>
          <a:bodyPr/>
          <a:lstStyle/>
          <a:p>
            <a:endParaRPr lang="en-IN"/>
          </a:p>
        </p:txBody>
      </p:sp>
      <p:sp>
        <p:nvSpPr>
          <p:cNvPr id="9" name="Text 7"/>
          <p:cNvSpPr/>
          <p:nvPr/>
        </p:nvSpPr>
        <p:spPr>
          <a:xfrm>
            <a:off x="347472" y="2176272"/>
            <a:ext cx="1920240" cy="1005840"/>
          </a:xfrm>
          <a:prstGeom prst="rect">
            <a:avLst/>
          </a:prstGeom>
          <a:noFill/>
          <a:ln/>
        </p:spPr>
        <p:txBody>
          <a:bodyPr wrap="square" lIns="0" tIns="0" rIns="0" bIns="0" rtlCol="0" anchor="ctr"/>
          <a:lstStyle/>
          <a:p>
            <a:pPr marL="0" indent="0" algn="ctr">
              <a:buNone/>
            </a:pPr>
            <a:r>
              <a:rPr lang="en-US" sz="850" dirty="0">
                <a:solidFill>
                  <a:srgbClr val="F0F4F8"/>
                </a:solidFill>
              </a:rPr>
              <a:t>WAF · Bastion · NSG · Private Endpoint · Zero Public IPs on VMs</a:t>
            </a:r>
            <a:endParaRPr lang="en-US" sz="850" dirty="0"/>
          </a:p>
        </p:txBody>
      </p:sp>
      <p:sp>
        <p:nvSpPr>
          <p:cNvPr id="10" name="Shape 8"/>
          <p:cNvSpPr/>
          <p:nvPr/>
        </p:nvSpPr>
        <p:spPr>
          <a:xfrm>
            <a:off x="2450592" y="1143000"/>
            <a:ext cx="2029968" cy="1005840"/>
          </a:xfrm>
          <a:prstGeom prst="rect">
            <a:avLst/>
          </a:prstGeom>
          <a:solidFill>
            <a:srgbClr val="F6A623"/>
          </a:solidFill>
          <a:ln/>
        </p:spPr>
        <p:txBody>
          <a:bodyPr/>
          <a:lstStyle/>
          <a:p>
            <a:endParaRPr lang="en-IN"/>
          </a:p>
        </p:txBody>
      </p:sp>
      <p:sp>
        <p:nvSpPr>
          <p:cNvPr id="11" name="Text 9"/>
          <p:cNvSpPr/>
          <p:nvPr/>
        </p:nvSpPr>
        <p:spPr>
          <a:xfrm>
            <a:off x="2450592" y="1143000"/>
            <a:ext cx="2029968" cy="411480"/>
          </a:xfrm>
          <a:prstGeom prst="rect">
            <a:avLst/>
          </a:prstGeom>
          <a:noFill/>
          <a:ln/>
        </p:spPr>
        <p:txBody>
          <a:bodyPr wrap="square" lIns="0" tIns="0" rIns="0" bIns="0" rtlCol="0" anchor="ctr"/>
          <a:lstStyle/>
          <a:p>
            <a:pPr marL="0" indent="0" algn="ctr">
              <a:buNone/>
            </a:pPr>
            <a:r>
              <a:rPr lang="en-US" sz="1400" b="1" dirty="0">
                <a:solidFill>
                  <a:srgbClr val="FFFFFF"/>
                </a:solidFill>
              </a:rPr>
              <a:t>Scalable</a:t>
            </a:r>
            <a:endParaRPr lang="en-US" sz="1400" dirty="0"/>
          </a:p>
        </p:txBody>
      </p:sp>
      <p:sp>
        <p:nvSpPr>
          <p:cNvPr id="12" name="Shape 10"/>
          <p:cNvSpPr/>
          <p:nvPr/>
        </p:nvSpPr>
        <p:spPr>
          <a:xfrm>
            <a:off x="2450592" y="2148840"/>
            <a:ext cx="2029968" cy="1097280"/>
          </a:xfrm>
          <a:prstGeom prst="rect">
            <a:avLst/>
          </a:prstGeom>
          <a:solidFill>
            <a:srgbClr val="0A2540"/>
          </a:solidFill>
          <a:ln/>
        </p:spPr>
        <p:txBody>
          <a:bodyPr/>
          <a:lstStyle/>
          <a:p>
            <a:endParaRPr lang="en-IN"/>
          </a:p>
        </p:txBody>
      </p:sp>
      <p:sp>
        <p:nvSpPr>
          <p:cNvPr id="13" name="Text 11"/>
          <p:cNvSpPr/>
          <p:nvPr/>
        </p:nvSpPr>
        <p:spPr>
          <a:xfrm>
            <a:off x="2523744" y="2176272"/>
            <a:ext cx="1920240" cy="1005840"/>
          </a:xfrm>
          <a:prstGeom prst="rect">
            <a:avLst/>
          </a:prstGeom>
          <a:noFill/>
          <a:ln/>
        </p:spPr>
        <p:txBody>
          <a:bodyPr wrap="square" lIns="0" tIns="0" rIns="0" bIns="0" rtlCol="0" anchor="ctr"/>
          <a:lstStyle/>
          <a:p>
            <a:pPr marL="0" indent="0" algn="ctr">
              <a:buNone/>
            </a:pPr>
            <a:r>
              <a:rPr lang="en-US" sz="850" dirty="0">
                <a:solidFill>
                  <a:srgbClr val="F0F4F8"/>
                </a:solidFill>
              </a:rPr>
              <a:t>VMSS Auto-Scale · App Gateway v2 · Cosmos DB </a:t>
            </a:r>
            <a:endParaRPr lang="en-US" sz="850" dirty="0"/>
          </a:p>
        </p:txBody>
      </p:sp>
      <p:sp>
        <p:nvSpPr>
          <p:cNvPr id="14" name="Shape 12"/>
          <p:cNvSpPr/>
          <p:nvPr/>
        </p:nvSpPr>
        <p:spPr>
          <a:xfrm>
            <a:off x="4626864" y="1143000"/>
            <a:ext cx="2029968" cy="1005840"/>
          </a:xfrm>
          <a:prstGeom prst="rect">
            <a:avLst/>
          </a:prstGeom>
          <a:solidFill>
            <a:srgbClr val="38A169"/>
          </a:solidFill>
          <a:ln/>
        </p:spPr>
        <p:txBody>
          <a:bodyPr/>
          <a:lstStyle/>
          <a:p>
            <a:endParaRPr lang="en-IN"/>
          </a:p>
        </p:txBody>
      </p:sp>
      <p:sp>
        <p:nvSpPr>
          <p:cNvPr id="15" name="Text 13"/>
          <p:cNvSpPr/>
          <p:nvPr/>
        </p:nvSpPr>
        <p:spPr>
          <a:xfrm>
            <a:off x="4626864" y="1143000"/>
            <a:ext cx="2029968" cy="411480"/>
          </a:xfrm>
          <a:prstGeom prst="rect">
            <a:avLst/>
          </a:prstGeom>
          <a:noFill/>
          <a:ln/>
        </p:spPr>
        <p:txBody>
          <a:bodyPr wrap="square" lIns="0" tIns="0" rIns="0" bIns="0" rtlCol="0" anchor="ctr"/>
          <a:lstStyle/>
          <a:p>
            <a:pPr marL="0" indent="0" algn="ctr">
              <a:buNone/>
            </a:pPr>
            <a:r>
              <a:rPr lang="en-US" sz="1400" b="1" dirty="0">
                <a:solidFill>
                  <a:srgbClr val="FFFFFF"/>
                </a:solidFill>
              </a:rPr>
              <a:t>Highly Available</a:t>
            </a:r>
            <a:endParaRPr lang="en-US" sz="1400" dirty="0"/>
          </a:p>
        </p:txBody>
      </p:sp>
      <p:sp>
        <p:nvSpPr>
          <p:cNvPr id="16" name="Shape 14"/>
          <p:cNvSpPr/>
          <p:nvPr/>
        </p:nvSpPr>
        <p:spPr>
          <a:xfrm>
            <a:off x="4626864" y="2148840"/>
            <a:ext cx="2029968" cy="1097280"/>
          </a:xfrm>
          <a:prstGeom prst="rect">
            <a:avLst/>
          </a:prstGeom>
          <a:solidFill>
            <a:srgbClr val="0A2540"/>
          </a:solidFill>
          <a:ln/>
        </p:spPr>
        <p:txBody>
          <a:bodyPr/>
          <a:lstStyle/>
          <a:p>
            <a:endParaRPr lang="en-IN"/>
          </a:p>
        </p:txBody>
      </p:sp>
      <p:sp>
        <p:nvSpPr>
          <p:cNvPr id="17" name="Text 15"/>
          <p:cNvSpPr/>
          <p:nvPr/>
        </p:nvSpPr>
        <p:spPr>
          <a:xfrm>
            <a:off x="4700016" y="2176272"/>
            <a:ext cx="1920240" cy="1005840"/>
          </a:xfrm>
          <a:prstGeom prst="rect">
            <a:avLst/>
          </a:prstGeom>
          <a:noFill/>
          <a:ln/>
        </p:spPr>
        <p:txBody>
          <a:bodyPr wrap="square" lIns="0" tIns="0" rIns="0" bIns="0" rtlCol="0" anchor="ctr"/>
          <a:lstStyle/>
          <a:p>
            <a:pPr marL="0" indent="0" algn="ctr">
              <a:buNone/>
            </a:pPr>
            <a:r>
              <a:rPr lang="en-US" sz="850" dirty="0">
                <a:solidFill>
                  <a:srgbClr val="F0F4F8"/>
                </a:solidFill>
              </a:rPr>
              <a:t>Zone-Redundant · Multi-Region · Auto-Heal </a:t>
            </a:r>
            <a:endParaRPr lang="en-US" sz="850" dirty="0"/>
          </a:p>
        </p:txBody>
      </p:sp>
      <p:sp>
        <p:nvSpPr>
          <p:cNvPr id="18" name="Shape 16"/>
          <p:cNvSpPr/>
          <p:nvPr/>
        </p:nvSpPr>
        <p:spPr>
          <a:xfrm>
            <a:off x="6803136" y="1143000"/>
            <a:ext cx="2029968" cy="1005840"/>
          </a:xfrm>
          <a:prstGeom prst="rect">
            <a:avLst/>
          </a:prstGeom>
          <a:solidFill>
            <a:srgbClr val="0078D4"/>
          </a:solidFill>
          <a:ln/>
        </p:spPr>
        <p:txBody>
          <a:bodyPr/>
          <a:lstStyle/>
          <a:p>
            <a:endParaRPr lang="en-IN"/>
          </a:p>
        </p:txBody>
      </p:sp>
      <p:sp>
        <p:nvSpPr>
          <p:cNvPr id="19" name="Text 17"/>
          <p:cNvSpPr/>
          <p:nvPr/>
        </p:nvSpPr>
        <p:spPr>
          <a:xfrm>
            <a:off x="6803136" y="1143000"/>
            <a:ext cx="2029968" cy="411480"/>
          </a:xfrm>
          <a:prstGeom prst="rect">
            <a:avLst/>
          </a:prstGeom>
          <a:noFill/>
          <a:ln/>
        </p:spPr>
        <p:txBody>
          <a:bodyPr wrap="square" lIns="0" tIns="0" rIns="0" bIns="0" rtlCol="0" anchor="ctr"/>
          <a:lstStyle/>
          <a:p>
            <a:pPr marL="0" indent="0" algn="ctr">
              <a:buNone/>
            </a:pPr>
            <a:r>
              <a:rPr lang="en-US" sz="1400" b="1" dirty="0">
                <a:solidFill>
                  <a:srgbClr val="FFFFFF"/>
                </a:solidFill>
              </a:rPr>
              <a:t>Cloud-Native</a:t>
            </a:r>
            <a:endParaRPr lang="en-US" sz="1400" dirty="0"/>
          </a:p>
        </p:txBody>
      </p:sp>
      <p:sp>
        <p:nvSpPr>
          <p:cNvPr id="20" name="Shape 18"/>
          <p:cNvSpPr/>
          <p:nvPr/>
        </p:nvSpPr>
        <p:spPr>
          <a:xfrm>
            <a:off x="6803136" y="2148840"/>
            <a:ext cx="2029968" cy="1097280"/>
          </a:xfrm>
          <a:prstGeom prst="rect">
            <a:avLst/>
          </a:prstGeom>
          <a:solidFill>
            <a:srgbClr val="0A2540"/>
          </a:solidFill>
          <a:ln/>
        </p:spPr>
        <p:txBody>
          <a:bodyPr/>
          <a:lstStyle/>
          <a:p>
            <a:endParaRPr lang="en-IN"/>
          </a:p>
        </p:txBody>
      </p:sp>
      <p:sp>
        <p:nvSpPr>
          <p:cNvPr id="21" name="Text 19"/>
          <p:cNvSpPr/>
          <p:nvPr/>
        </p:nvSpPr>
        <p:spPr>
          <a:xfrm>
            <a:off x="6876288" y="2176272"/>
            <a:ext cx="1920240" cy="1005840"/>
          </a:xfrm>
          <a:prstGeom prst="rect">
            <a:avLst/>
          </a:prstGeom>
          <a:noFill/>
          <a:ln/>
        </p:spPr>
        <p:txBody>
          <a:bodyPr wrap="square" lIns="0" tIns="0" rIns="0" bIns="0" rtlCol="0" anchor="ctr"/>
          <a:lstStyle/>
          <a:p>
            <a:pPr marL="0" indent="0" algn="ctr">
              <a:buNone/>
            </a:pPr>
            <a:r>
              <a:rPr lang="en-US" sz="850" dirty="0">
                <a:solidFill>
                  <a:srgbClr val="F0F4F8"/>
                </a:solidFill>
              </a:rPr>
              <a:t>Managed Services · IaC-Ready · Azure Well-Architected</a:t>
            </a:r>
            <a:endParaRPr lang="en-US" sz="850" dirty="0"/>
          </a:p>
        </p:txBody>
      </p:sp>
      <p:sp>
        <p:nvSpPr>
          <p:cNvPr id="22" name="Shape 20"/>
          <p:cNvSpPr/>
          <p:nvPr/>
        </p:nvSpPr>
        <p:spPr>
          <a:xfrm>
            <a:off x="274320" y="3401568"/>
            <a:ext cx="8595360" cy="54864"/>
          </a:xfrm>
          <a:prstGeom prst="rect">
            <a:avLst/>
          </a:prstGeom>
          <a:solidFill>
            <a:srgbClr val="0078D4"/>
          </a:solidFill>
          <a:ln/>
        </p:spPr>
        <p:txBody>
          <a:bodyPr/>
          <a:lstStyle/>
          <a:p>
            <a:endParaRPr lang="en-IN"/>
          </a:p>
        </p:txBody>
      </p:sp>
      <p:sp>
        <p:nvSpPr>
          <p:cNvPr id="23" name="Text 21"/>
          <p:cNvSpPr/>
          <p:nvPr/>
        </p:nvSpPr>
        <p:spPr>
          <a:xfrm>
            <a:off x="1417320" y="3453892"/>
            <a:ext cx="1463040" cy="594360"/>
          </a:xfrm>
          <a:prstGeom prst="rect">
            <a:avLst/>
          </a:prstGeom>
          <a:noFill/>
          <a:ln/>
        </p:spPr>
        <p:txBody>
          <a:bodyPr wrap="square" lIns="0" tIns="0" rIns="0" bIns="0" rtlCol="0" anchor="ctr"/>
          <a:lstStyle/>
          <a:p>
            <a:pPr marL="0" indent="0" algn="ctr">
              <a:buNone/>
            </a:pPr>
            <a:r>
              <a:rPr lang="en-US" sz="3600" b="1" dirty="0">
                <a:solidFill>
                  <a:srgbClr val="0078D4"/>
                </a:solidFill>
              </a:rPr>
              <a:t>2</a:t>
            </a:r>
            <a:endParaRPr lang="en-US" sz="3600" dirty="0"/>
          </a:p>
        </p:txBody>
      </p:sp>
      <p:sp>
        <p:nvSpPr>
          <p:cNvPr id="24" name="Text 22"/>
          <p:cNvSpPr/>
          <p:nvPr/>
        </p:nvSpPr>
        <p:spPr>
          <a:xfrm>
            <a:off x="1417320" y="4039108"/>
            <a:ext cx="1463040" cy="256032"/>
          </a:xfrm>
          <a:prstGeom prst="rect">
            <a:avLst/>
          </a:prstGeom>
          <a:noFill/>
          <a:ln/>
        </p:spPr>
        <p:txBody>
          <a:bodyPr wrap="square" lIns="0" tIns="0" rIns="0" bIns="0" rtlCol="0" anchor="ctr"/>
          <a:lstStyle/>
          <a:p>
            <a:pPr marL="0" indent="0" algn="ctr">
              <a:buNone/>
            </a:pPr>
            <a:r>
              <a:rPr lang="en-US" sz="900" dirty="0">
                <a:solidFill>
                  <a:srgbClr val="CBD5E0"/>
                </a:solidFill>
              </a:rPr>
              <a:t>Azure Regions</a:t>
            </a:r>
            <a:endParaRPr lang="en-US" sz="900" dirty="0"/>
          </a:p>
        </p:txBody>
      </p:sp>
      <p:sp>
        <p:nvSpPr>
          <p:cNvPr id="25" name="Text 23"/>
          <p:cNvSpPr/>
          <p:nvPr/>
        </p:nvSpPr>
        <p:spPr>
          <a:xfrm>
            <a:off x="3108960" y="3453892"/>
            <a:ext cx="1463040" cy="594360"/>
          </a:xfrm>
          <a:prstGeom prst="rect">
            <a:avLst/>
          </a:prstGeom>
          <a:noFill/>
          <a:ln/>
        </p:spPr>
        <p:txBody>
          <a:bodyPr wrap="square" lIns="0" tIns="0" rIns="0" bIns="0" rtlCol="0" anchor="ctr"/>
          <a:lstStyle/>
          <a:p>
            <a:pPr marL="0" indent="0" algn="ctr">
              <a:buNone/>
            </a:pPr>
            <a:r>
              <a:rPr lang="en-US" sz="3600" b="1" dirty="0">
                <a:solidFill>
                  <a:srgbClr val="0078D4"/>
                </a:solidFill>
              </a:rPr>
              <a:t>2</a:t>
            </a:r>
            <a:endParaRPr lang="en-US" sz="3600" dirty="0"/>
          </a:p>
        </p:txBody>
      </p:sp>
      <p:sp>
        <p:nvSpPr>
          <p:cNvPr id="26" name="Text 24"/>
          <p:cNvSpPr/>
          <p:nvPr/>
        </p:nvSpPr>
        <p:spPr>
          <a:xfrm>
            <a:off x="3108960" y="4039108"/>
            <a:ext cx="1463040" cy="256032"/>
          </a:xfrm>
          <a:prstGeom prst="rect">
            <a:avLst/>
          </a:prstGeom>
          <a:noFill/>
          <a:ln/>
        </p:spPr>
        <p:txBody>
          <a:bodyPr wrap="square" lIns="0" tIns="0" rIns="0" bIns="0" rtlCol="0" anchor="ctr"/>
          <a:lstStyle/>
          <a:p>
            <a:pPr marL="0" indent="0" algn="ctr">
              <a:buNone/>
            </a:pPr>
            <a:r>
              <a:rPr lang="en-US" sz="900" dirty="0">
                <a:solidFill>
                  <a:srgbClr val="CBD5E0"/>
                </a:solidFill>
              </a:rPr>
              <a:t>VNets / Subnets</a:t>
            </a:r>
            <a:endParaRPr lang="en-US" sz="900" dirty="0"/>
          </a:p>
        </p:txBody>
      </p:sp>
      <p:sp>
        <p:nvSpPr>
          <p:cNvPr id="27" name="Text 25"/>
          <p:cNvSpPr/>
          <p:nvPr/>
        </p:nvSpPr>
        <p:spPr>
          <a:xfrm>
            <a:off x="4800600" y="3453892"/>
            <a:ext cx="1463040" cy="594360"/>
          </a:xfrm>
          <a:prstGeom prst="rect">
            <a:avLst/>
          </a:prstGeom>
          <a:noFill/>
          <a:ln/>
        </p:spPr>
        <p:txBody>
          <a:bodyPr wrap="square" lIns="0" tIns="0" rIns="0" bIns="0" rtlCol="0" anchor="ctr"/>
          <a:lstStyle/>
          <a:p>
            <a:pPr marL="0" indent="0" algn="ctr">
              <a:buNone/>
            </a:pPr>
            <a:r>
              <a:rPr lang="en-US" sz="3600" b="1" dirty="0">
                <a:solidFill>
                  <a:srgbClr val="0078D4"/>
                </a:solidFill>
              </a:rPr>
              <a:t>5+</a:t>
            </a:r>
            <a:endParaRPr lang="en-US" sz="3600" dirty="0"/>
          </a:p>
        </p:txBody>
      </p:sp>
      <p:sp>
        <p:nvSpPr>
          <p:cNvPr id="28" name="Text 26"/>
          <p:cNvSpPr/>
          <p:nvPr/>
        </p:nvSpPr>
        <p:spPr>
          <a:xfrm>
            <a:off x="4800600" y="4039108"/>
            <a:ext cx="1463040" cy="256032"/>
          </a:xfrm>
          <a:prstGeom prst="rect">
            <a:avLst/>
          </a:prstGeom>
          <a:noFill/>
          <a:ln/>
        </p:spPr>
        <p:txBody>
          <a:bodyPr wrap="square" lIns="0" tIns="0" rIns="0" bIns="0" rtlCol="0" anchor="ctr"/>
          <a:lstStyle/>
          <a:p>
            <a:pPr marL="0" indent="0" algn="ctr">
              <a:buNone/>
            </a:pPr>
            <a:r>
              <a:rPr lang="en-US" sz="900" dirty="0">
                <a:solidFill>
                  <a:srgbClr val="CBD5E0"/>
                </a:solidFill>
              </a:rPr>
              <a:t>Security Layers</a:t>
            </a:r>
            <a:endParaRPr lang="en-US" sz="900" dirty="0"/>
          </a:p>
        </p:txBody>
      </p:sp>
      <p:sp>
        <p:nvSpPr>
          <p:cNvPr id="29" name="Text 27"/>
          <p:cNvSpPr/>
          <p:nvPr/>
        </p:nvSpPr>
        <p:spPr>
          <a:xfrm>
            <a:off x="6492240" y="3453892"/>
            <a:ext cx="1463040" cy="594360"/>
          </a:xfrm>
          <a:prstGeom prst="rect">
            <a:avLst/>
          </a:prstGeom>
          <a:noFill/>
          <a:ln/>
        </p:spPr>
        <p:txBody>
          <a:bodyPr wrap="square" lIns="0" tIns="0" rIns="0" bIns="0" rtlCol="0" anchor="ctr"/>
          <a:lstStyle/>
          <a:p>
            <a:pPr marL="0" indent="0" algn="ctr">
              <a:buNone/>
            </a:pPr>
            <a:r>
              <a:rPr lang="en-US" sz="3600" b="1" dirty="0">
                <a:solidFill>
                  <a:srgbClr val="0078D4"/>
                </a:solidFill>
              </a:rPr>
              <a:t>∞</a:t>
            </a:r>
            <a:endParaRPr lang="en-US" sz="3600" dirty="0"/>
          </a:p>
        </p:txBody>
      </p:sp>
      <p:sp>
        <p:nvSpPr>
          <p:cNvPr id="30" name="Text 28"/>
          <p:cNvSpPr/>
          <p:nvPr/>
        </p:nvSpPr>
        <p:spPr>
          <a:xfrm>
            <a:off x="6492240" y="4039108"/>
            <a:ext cx="1463040" cy="256032"/>
          </a:xfrm>
          <a:prstGeom prst="rect">
            <a:avLst/>
          </a:prstGeom>
          <a:noFill/>
          <a:ln/>
        </p:spPr>
        <p:txBody>
          <a:bodyPr wrap="square" lIns="0" tIns="0" rIns="0" bIns="0" rtlCol="0" anchor="ctr"/>
          <a:lstStyle/>
          <a:p>
            <a:pPr marL="0" indent="0" algn="ctr">
              <a:buNone/>
            </a:pPr>
            <a:r>
              <a:rPr lang="en-US" sz="900" dirty="0">
                <a:solidFill>
                  <a:srgbClr val="CBD5E0"/>
                </a:solidFill>
              </a:rPr>
              <a:t>Auto-Scale Range</a:t>
            </a:r>
            <a:endParaRPr lang="en-US" sz="900" dirty="0"/>
          </a:p>
        </p:txBody>
      </p:sp>
      <p:sp>
        <p:nvSpPr>
          <p:cNvPr id="33" name="Text 31"/>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950" dirty="0">
                <a:solidFill>
                  <a:srgbClr val="718096"/>
                </a:solidFill>
              </a:rPr>
              <a:t>Designed · Deployed · Documented by Cloud/DevOps Engineering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2529</Words>
  <Application>Microsoft Office PowerPoint</Application>
  <PresentationFormat>On-screen Show (16:9)</PresentationFormat>
  <Paragraphs>222</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Multi-Region Secure Cloud Infrastructure</dc:title>
  <dc:subject>PptxGenJS Presentation</dc:subject>
  <dc:creator>Azure Cloud Architect</dc:creator>
  <cp:lastModifiedBy>Aswin Aswathy Saju(UST,IN)</cp:lastModifiedBy>
  <cp:revision>2</cp:revision>
  <dcterms:created xsi:type="dcterms:W3CDTF">2026-05-26T04:16:30Z</dcterms:created>
  <dcterms:modified xsi:type="dcterms:W3CDTF">2026-05-26T19:10:26Z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2026-05-26T19:10:26Z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fde5143d-0525-4fbf-b8e9-bdf27aeeb9c4</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